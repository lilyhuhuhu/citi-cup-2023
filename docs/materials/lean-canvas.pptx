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7"/>
  </p:sldMasterIdLst>
  <p:sldIdLst>
    <p:sldId id="257" r:id="rId8"/>
  </p:sldIdLst>
  <p:sldSz cx="9906000" cy="6858000" type="A4"/>
  <p:notesSz cx="7023100" cy="9309100"/>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王 威" initials="王" lastIdx="1" clrIdx="0">
    <p:extLst>
      <p:ext uri="{19B8F6BF-5375-455C-9EA6-DF929625EA0E}">
        <p15:presenceInfo xmlns:p15="http://schemas.microsoft.com/office/powerpoint/2012/main" userId="47158356df58406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4912" autoAdjust="0"/>
    <p:restoredTop sz="94660" autoAdjust="0"/>
  </p:normalViewPr>
  <p:slideViewPr>
    <p:cSldViewPr snapToObjects="1">
      <p:cViewPr varScale="1">
        <p:scale>
          <a:sx n="95" d="100"/>
          <a:sy n="95" d="100"/>
        </p:scale>
        <p:origin x="1028" y="76"/>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Master" Target="slideMasters/slideMaster1.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viewProps" Target="viewProps.xml"/><Relationship Id="rId5" Type="http://schemas.openxmlformats.org/officeDocument/2006/relationships/customXml" Target="../customXml/item5.xml"/><Relationship Id="rId10" Type="http://schemas.openxmlformats.org/officeDocument/2006/relationships/presProps" Target="presProps.xml"/><Relationship Id="rId4" Type="http://schemas.openxmlformats.org/officeDocument/2006/relationships/customXml" Target="../customXml/item4.xml"/><Relationship Id="rId9" Type="http://schemas.openxmlformats.org/officeDocument/2006/relationships/commentAuthors" Target="commentAuthor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ean Canvas">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309424" y="1066800"/>
            <a:ext cx="1754326" cy="3429000"/>
          </a:xfrm>
          <a:prstGeom prst="rect">
            <a:avLst/>
          </a:prstGeom>
          <a:solidFill>
            <a:srgbClr val="FFFFFF"/>
          </a:solidFill>
        </p:spPr>
        <p:txBody>
          <a:bodyPr vert="horz"/>
          <a:lstStyle>
            <a:lvl1pPr marL="0" indent="0">
              <a:buNone/>
              <a:defRPr sz="900"/>
            </a:lvl1pPr>
          </a:lstStyle>
          <a:p>
            <a:pPr lvl="0"/>
            <a:r>
              <a:rPr lang="en-GB" dirty="0"/>
              <a:t>Click to edit Master text styles</a:t>
            </a:r>
          </a:p>
        </p:txBody>
      </p:sp>
      <p:sp>
        <p:nvSpPr>
          <p:cNvPr id="10" name="Text Placeholder 8"/>
          <p:cNvSpPr>
            <a:spLocks noGrp="1"/>
          </p:cNvSpPr>
          <p:nvPr>
            <p:ph type="body" sz="quarter" idx="11"/>
          </p:nvPr>
        </p:nvSpPr>
        <p:spPr>
          <a:xfrm>
            <a:off x="2185335" y="1066800"/>
            <a:ext cx="1754326" cy="1530000"/>
          </a:xfrm>
          <a:prstGeom prst="rect">
            <a:avLst/>
          </a:prstGeom>
          <a:solidFill>
            <a:srgbClr val="FFFFFF"/>
          </a:solidFill>
        </p:spPr>
        <p:txBody>
          <a:bodyPr vert="horz"/>
          <a:lstStyle>
            <a:lvl1pPr marL="0" indent="0">
              <a:buNone/>
              <a:defRPr sz="900"/>
            </a:lvl1pPr>
          </a:lstStyle>
          <a:p>
            <a:pPr lvl="0"/>
            <a:r>
              <a:rPr lang="en-GB"/>
              <a:t>Click to edit Master text styles</a:t>
            </a:r>
          </a:p>
        </p:txBody>
      </p:sp>
      <p:sp>
        <p:nvSpPr>
          <p:cNvPr id="11" name="Text Placeholder 8"/>
          <p:cNvSpPr>
            <a:spLocks noGrp="1"/>
          </p:cNvSpPr>
          <p:nvPr>
            <p:ph type="body" sz="quarter" idx="12"/>
          </p:nvPr>
        </p:nvSpPr>
        <p:spPr>
          <a:xfrm>
            <a:off x="4067689" y="1066799"/>
            <a:ext cx="1754326" cy="3428763"/>
          </a:xfrm>
          <a:prstGeom prst="rect">
            <a:avLst/>
          </a:prstGeom>
          <a:solidFill>
            <a:srgbClr val="FFFFFF"/>
          </a:solidFill>
        </p:spPr>
        <p:txBody>
          <a:bodyPr vert="horz"/>
          <a:lstStyle>
            <a:lvl1pPr marL="0" indent="0">
              <a:buNone/>
              <a:defRPr sz="900"/>
            </a:lvl1pPr>
          </a:lstStyle>
          <a:p>
            <a:pPr lvl="0"/>
            <a:r>
              <a:rPr lang="en-GB"/>
              <a:t>Click to edit Master text styles</a:t>
            </a:r>
          </a:p>
        </p:txBody>
      </p:sp>
      <p:sp>
        <p:nvSpPr>
          <p:cNvPr id="12" name="Text Placeholder 8"/>
          <p:cNvSpPr>
            <a:spLocks noGrp="1"/>
          </p:cNvSpPr>
          <p:nvPr>
            <p:ph type="body" sz="quarter" idx="13"/>
          </p:nvPr>
        </p:nvSpPr>
        <p:spPr>
          <a:xfrm>
            <a:off x="5948526" y="1056067"/>
            <a:ext cx="1754326" cy="1530000"/>
          </a:xfrm>
          <a:prstGeom prst="rect">
            <a:avLst/>
          </a:prstGeom>
          <a:solidFill>
            <a:srgbClr val="FFFFFF"/>
          </a:solidFill>
        </p:spPr>
        <p:txBody>
          <a:bodyPr vert="horz"/>
          <a:lstStyle>
            <a:lvl1pPr marL="0" indent="0">
              <a:buNone/>
              <a:defRPr sz="900"/>
            </a:lvl1pPr>
          </a:lstStyle>
          <a:p>
            <a:pPr lvl="0"/>
            <a:r>
              <a:rPr lang="en-GB"/>
              <a:t>Click to edit Master text styles</a:t>
            </a:r>
          </a:p>
        </p:txBody>
      </p:sp>
      <p:sp>
        <p:nvSpPr>
          <p:cNvPr id="13" name="Text Placeholder 8"/>
          <p:cNvSpPr>
            <a:spLocks noGrp="1"/>
          </p:cNvSpPr>
          <p:nvPr>
            <p:ph type="body" sz="quarter" idx="14"/>
          </p:nvPr>
        </p:nvSpPr>
        <p:spPr>
          <a:xfrm>
            <a:off x="7835806" y="1056066"/>
            <a:ext cx="1754326" cy="3428763"/>
          </a:xfrm>
          <a:prstGeom prst="rect">
            <a:avLst/>
          </a:prstGeom>
          <a:solidFill>
            <a:srgbClr val="FFFFFF"/>
          </a:solidFill>
        </p:spPr>
        <p:txBody>
          <a:bodyPr vert="horz"/>
          <a:lstStyle>
            <a:lvl1pPr marL="0" indent="0">
              <a:buNone/>
              <a:defRPr sz="900"/>
            </a:lvl1pPr>
          </a:lstStyle>
          <a:p>
            <a:pPr lvl="0"/>
            <a:r>
              <a:rPr lang="en-GB"/>
              <a:t>Click to edit Master text styles</a:t>
            </a:r>
          </a:p>
        </p:txBody>
      </p:sp>
      <p:sp>
        <p:nvSpPr>
          <p:cNvPr id="15" name="Text Placeholder 8"/>
          <p:cNvSpPr>
            <a:spLocks noGrp="1"/>
          </p:cNvSpPr>
          <p:nvPr>
            <p:ph type="body" sz="quarter" idx="16"/>
          </p:nvPr>
        </p:nvSpPr>
        <p:spPr>
          <a:xfrm>
            <a:off x="2196704" y="2965800"/>
            <a:ext cx="1754326" cy="1530000"/>
          </a:xfrm>
          <a:prstGeom prst="rect">
            <a:avLst/>
          </a:prstGeom>
          <a:solidFill>
            <a:srgbClr val="FFFFFF"/>
          </a:solidFill>
        </p:spPr>
        <p:txBody>
          <a:bodyPr vert="horz"/>
          <a:lstStyle>
            <a:lvl1pPr marL="0" indent="0">
              <a:buNone/>
              <a:defRPr sz="900" baseline="0"/>
            </a:lvl1pPr>
          </a:lstStyle>
          <a:p>
            <a:pPr lvl="0"/>
            <a:r>
              <a:rPr lang="en-GB"/>
              <a:t>Click to edit Master text styles</a:t>
            </a:r>
          </a:p>
        </p:txBody>
      </p:sp>
      <p:sp>
        <p:nvSpPr>
          <p:cNvPr id="17" name="Text Placeholder 8"/>
          <p:cNvSpPr>
            <a:spLocks noGrp="1"/>
          </p:cNvSpPr>
          <p:nvPr>
            <p:ph type="body" sz="quarter" idx="18"/>
          </p:nvPr>
        </p:nvSpPr>
        <p:spPr>
          <a:xfrm>
            <a:off x="5952078" y="2965800"/>
            <a:ext cx="1754326" cy="1530000"/>
          </a:xfrm>
          <a:prstGeom prst="rect">
            <a:avLst/>
          </a:prstGeom>
          <a:solidFill>
            <a:srgbClr val="FFFFFF"/>
          </a:solidFill>
        </p:spPr>
        <p:txBody>
          <a:bodyPr vert="horz"/>
          <a:lstStyle>
            <a:lvl1pPr marL="0" indent="0">
              <a:buNone/>
              <a:defRPr sz="900"/>
            </a:lvl1pPr>
          </a:lstStyle>
          <a:p>
            <a:pPr lvl="0"/>
            <a:r>
              <a:rPr lang="en-GB"/>
              <a:t>Click to edit Master text styles</a:t>
            </a:r>
          </a:p>
        </p:txBody>
      </p:sp>
      <p:sp>
        <p:nvSpPr>
          <p:cNvPr id="19" name="Text Placeholder 8"/>
          <p:cNvSpPr>
            <a:spLocks noGrp="1"/>
          </p:cNvSpPr>
          <p:nvPr>
            <p:ph type="body" sz="quarter" idx="20"/>
          </p:nvPr>
        </p:nvSpPr>
        <p:spPr>
          <a:xfrm>
            <a:off x="309424" y="4876800"/>
            <a:ext cx="4561026" cy="1447800"/>
          </a:xfrm>
          <a:prstGeom prst="rect">
            <a:avLst/>
          </a:prstGeom>
          <a:solidFill>
            <a:srgbClr val="FFFFFF"/>
          </a:solidFill>
        </p:spPr>
        <p:txBody>
          <a:bodyPr vert="horz"/>
          <a:lstStyle>
            <a:lvl1pPr marL="0" indent="0">
              <a:buNone/>
              <a:defRPr sz="900" baseline="0"/>
            </a:lvl1pPr>
          </a:lstStyle>
          <a:p>
            <a:pPr lvl="0"/>
            <a:r>
              <a:rPr lang="en-GB" dirty="0"/>
              <a:t>Click to edit Master text styles</a:t>
            </a:r>
          </a:p>
        </p:txBody>
      </p:sp>
      <p:sp>
        <p:nvSpPr>
          <p:cNvPr id="20" name="Text Placeholder 8"/>
          <p:cNvSpPr>
            <a:spLocks noGrp="1"/>
          </p:cNvSpPr>
          <p:nvPr>
            <p:ph type="body" sz="quarter" idx="21"/>
          </p:nvPr>
        </p:nvSpPr>
        <p:spPr>
          <a:xfrm>
            <a:off x="5056350" y="4876800"/>
            <a:ext cx="4533783" cy="1447800"/>
          </a:xfrm>
          <a:prstGeom prst="rect">
            <a:avLst/>
          </a:prstGeom>
          <a:solidFill>
            <a:srgbClr val="FFFFFF"/>
          </a:solidFill>
        </p:spPr>
        <p:txBody>
          <a:bodyPr vert="horz"/>
          <a:lstStyle>
            <a:lvl1pPr marL="0" indent="0">
              <a:buNone/>
              <a:defRPr sz="900"/>
            </a:lvl1pPr>
          </a:lstStyle>
          <a:p>
            <a:pPr lvl="0"/>
            <a:r>
              <a:rPr lang="en-GB" dirty="0"/>
              <a:t>Click to edit Master text styles</a:t>
            </a:r>
          </a:p>
        </p:txBody>
      </p:sp>
      <p:sp>
        <p:nvSpPr>
          <p:cNvPr id="22" name="Text Placeholder 8"/>
          <p:cNvSpPr>
            <a:spLocks noGrp="1"/>
          </p:cNvSpPr>
          <p:nvPr>
            <p:ph type="body" sz="quarter" idx="22"/>
          </p:nvPr>
        </p:nvSpPr>
        <p:spPr>
          <a:xfrm>
            <a:off x="3962400" y="381000"/>
            <a:ext cx="1403350" cy="228600"/>
          </a:xfrm>
          <a:prstGeom prst="rect">
            <a:avLst/>
          </a:prstGeom>
          <a:solidFill>
            <a:srgbClr val="FFFFFF"/>
          </a:solidFill>
          <a:ln>
            <a:noFill/>
          </a:ln>
        </p:spPr>
        <p:txBody>
          <a:bodyPr vert="horz"/>
          <a:lstStyle>
            <a:lvl1pPr marL="0" indent="0">
              <a:buNone/>
              <a:defRPr sz="900" baseline="0"/>
            </a:lvl1pPr>
          </a:lstStyle>
          <a:p>
            <a:pPr lvl="0"/>
            <a:r>
              <a:rPr lang="en-GB"/>
              <a:t>Click to edit Master text styles</a:t>
            </a:r>
          </a:p>
        </p:txBody>
      </p:sp>
      <p:sp>
        <p:nvSpPr>
          <p:cNvPr id="23" name="Text Placeholder 8"/>
          <p:cNvSpPr>
            <a:spLocks noGrp="1"/>
          </p:cNvSpPr>
          <p:nvPr>
            <p:ph type="body" sz="quarter" idx="23"/>
          </p:nvPr>
        </p:nvSpPr>
        <p:spPr>
          <a:xfrm>
            <a:off x="5685201" y="381000"/>
            <a:ext cx="1403350" cy="228600"/>
          </a:xfrm>
          <a:prstGeom prst="rect">
            <a:avLst/>
          </a:prstGeom>
          <a:solidFill>
            <a:srgbClr val="FFFFFF"/>
          </a:solidFill>
          <a:ln>
            <a:noFill/>
          </a:ln>
        </p:spPr>
        <p:txBody>
          <a:bodyPr vert="horz"/>
          <a:lstStyle>
            <a:lvl1pPr marL="0" indent="0">
              <a:buNone/>
              <a:defRPr sz="900"/>
            </a:lvl1pPr>
          </a:lstStyle>
          <a:p>
            <a:pPr lvl="0"/>
            <a:r>
              <a:rPr lang="en-GB"/>
              <a:t>Click to edit Master text styles</a:t>
            </a:r>
          </a:p>
        </p:txBody>
      </p:sp>
      <p:sp>
        <p:nvSpPr>
          <p:cNvPr id="24" name="Text Placeholder 8"/>
          <p:cNvSpPr>
            <a:spLocks noGrp="1"/>
          </p:cNvSpPr>
          <p:nvPr>
            <p:ph type="body" sz="quarter" idx="24"/>
          </p:nvPr>
        </p:nvSpPr>
        <p:spPr>
          <a:xfrm>
            <a:off x="7759700" y="381000"/>
            <a:ext cx="1155700" cy="228600"/>
          </a:xfrm>
          <a:prstGeom prst="rect">
            <a:avLst/>
          </a:prstGeom>
          <a:solidFill>
            <a:srgbClr val="FFFFFF"/>
          </a:solidFill>
          <a:ln>
            <a:noFill/>
          </a:ln>
        </p:spPr>
        <p:txBody>
          <a:bodyPr vert="horz"/>
          <a:lstStyle>
            <a:lvl1pPr marL="0" indent="0">
              <a:buNone/>
              <a:defRPr sz="900"/>
            </a:lvl1pPr>
          </a:lstStyle>
          <a:p>
            <a:pPr lvl="0"/>
            <a:r>
              <a:rPr lang="en-GB"/>
              <a:t>Click to edit Master text styles</a:t>
            </a:r>
          </a:p>
        </p:txBody>
      </p:sp>
      <p:sp>
        <p:nvSpPr>
          <p:cNvPr id="25" name="Text Placeholder 8"/>
          <p:cNvSpPr>
            <a:spLocks noGrp="1"/>
          </p:cNvSpPr>
          <p:nvPr>
            <p:ph type="body" sz="quarter" idx="25"/>
          </p:nvPr>
        </p:nvSpPr>
        <p:spPr>
          <a:xfrm>
            <a:off x="9245600" y="381000"/>
            <a:ext cx="412750" cy="228600"/>
          </a:xfrm>
          <a:prstGeom prst="rect">
            <a:avLst/>
          </a:prstGeom>
          <a:solidFill>
            <a:srgbClr val="FFFFFF"/>
          </a:solidFill>
          <a:ln>
            <a:noFill/>
          </a:ln>
        </p:spPr>
        <p:txBody>
          <a:bodyPr vert="horz"/>
          <a:lstStyle>
            <a:lvl1pPr marL="0" indent="0">
              <a:buNone/>
              <a:defRPr sz="900"/>
            </a:lvl1pPr>
          </a:lstStyle>
          <a:p>
            <a:pPr lvl="0"/>
            <a:r>
              <a:rPr lang="en-GB"/>
              <a:t>Click to edit Master text styles</a:t>
            </a:r>
          </a:p>
        </p:txBody>
      </p:sp>
    </p:spTree>
    <p:extLst>
      <p:ext uri="{BB962C8B-B14F-4D97-AF65-F5344CB8AC3E}">
        <p14:creationId xmlns:p14="http://schemas.microsoft.com/office/powerpoint/2010/main" val="31741511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p:cNvGrpSpPr/>
        <p:nvPr/>
      </p:nvGrpSpPr>
      <p:grpSpPr>
        <a:xfrm>
          <a:off x="0" y="0"/>
          <a:ext cx="0" cy="0"/>
          <a:chOff x="0" y="0"/>
          <a:chExt cx="0" cy="0"/>
        </a:xfrm>
      </p:grpSpPr>
      <p:sp>
        <p:nvSpPr>
          <p:cNvPr id="24" name="Rectangle 23"/>
          <p:cNvSpPr/>
          <p:nvPr userDrawn="1"/>
        </p:nvSpPr>
        <p:spPr>
          <a:xfrm>
            <a:off x="266700" y="762000"/>
            <a:ext cx="9385300" cy="5638800"/>
          </a:xfrm>
          <a:prstGeom prst="rect">
            <a:avLst/>
          </a:prstGeom>
          <a:solidFill>
            <a:srgbClr val="FFFFFF"/>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GB" dirty="0"/>
          </a:p>
        </p:txBody>
      </p:sp>
      <p:sp>
        <p:nvSpPr>
          <p:cNvPr id="1027" name="TextBox 6"/>
          <p:cNvSpPr txBox="1">
            <a:spLocks noChangeArrowheads="1"/>
          </p:cNvSpPr>
          <p:nvPr userDrawn="1"/>
        </p:nvSpPr>
        <p:spPr bwMode="auto">
          <a:xfrm>
            <a:off x="247650" y="304800"/>
            <a:ext cx="2063750" cy="338138"/>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eaLnBrk="1" hangingPunct="1">
              <a:defRPr/>
            </a:pPr>
            <a:r>
              <a:rPr lang="en-GB" sz="1600" b="1" dirty="0">
                <a:latin typeface="Arial" charset="0"/>
                <a:cs typeface="Arial" charset="0"/>
              </a:rPr>
              <a:t>The Lean Canvas</a:t>
            </a:r>
          </a:p>
        </p:txBody>
      </p:sp>
      <p:sp>
        <p:nvSpPr>
          <p:cNvPr id="1028" name="TextBox 7"/>
          <p:cNvSpPr txBox="1">
            <a:spLocks noChangeArrowheads="1"/>
          </p:cNvSpPr>
          <p:nvPr userDrawn="1"/>
        </p:nvSpPr>
        <p:spPr bwMode="auto">
          <a:xfrm>
            <a:off x="3860800" y="184150"/>
            <a:ext cx="1403350" cy="2000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eaLnBrk="1" hangingPunct="1">
              <a:defRPr/>
            </a:pPr>
            <a:r>
              <a:rPr lang="en-GB" sz="700" i="1">
                <a:latin typeface="Arial" charset="0"/>
                <a:cs typeface="Arial" charset="0"/>
              </a:rPr>
              <a:t>Designed for:</a:t>
            </a:r>
          </a:p>
        </p:txBody>
      </p:sp>
      <p:sp>
        <p:nvSpPr>
          <p:cNvPr id="1029" name="TextBox 8"/>
          <p:cNvSpPr txBox="1">
            <a:spLocks noChangeArrowheads="1"/>
          </p:cNvSpPr>
          <p:nvPr userDrawn="1"/>
        </p:nvSpPr>
        <p:spPr bwMode="auto">
          <a:xfrm>
            <a:off x="5586413" y="180975"/>
            <a:ext cx="1403350" cy="2000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eaLnBrk="1" hangingPunct="1">
              <a:defRPr/>
            </a:pPr>
            <a:r>
              <a:rPr lang="en-GB" sz="700" i="1">
                <a:latin typeface="Arial" charset="0"/>
                <a:cs typeface="Arial" charset="0"/>
              </a:rPr>
              <a:t>Designed by:</a:t>
            </a:r>
          </a:p>
        </p:txBody>
      </p:sp>
      <p:sp>
        <p:nvSpPr>
          <p:cNvPr id="1030" name="TextBox 9"/>
          <p:cNvSpPr txBox="1">
            <a:spLocks noChangeArrowheads="1"/>
          </p:cNvSpPr>
          <p:nvPr userDrawn="1"/>
        </p:nvSpPr>
        <p:spPr bwMode="auto">
          <a:xfrm>
            <a:off x="7664450" y="180975"/>
            <a:ext cx="1214438" cy="203200"/>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eaLnBrk="1" hangingPunct="1">
              <a:defRPr/>
            </a:pPr>
            <a:r>
              <a:rPr lang="en-GB" sz="700" i="1">
                <a:latin typeface="Arial" charset="0"/>
                <a:cs typeface="Arial" charset="0"/>
              </a:rPr>
              <a:t>Date:</a:t>
            </a:r>
          </a:p>
        </p:txBody>
      </p:sp>
      <p:sp>
        <p:nvSpPr>
          <p:cNvPr id="1031" name="TextBox 10"/>
          <p:cNvSpPr txBox="1">
            <a:spLocks noChangeArrowheads="1"/>
          </p:cNvSpPr>
          <p:nvPr userDrawn="1"/>
        </p:nvSpPr>
        <p:spPr bwMode="auto">
          <a:xfrm>
            <a:off x="9142413" y="180975"/>
            <a:ext cx="620712" cy="2000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eaLnBrk="1" hangingPunct="1">
              <a:defRPr/>
            </a:pPr>
            <a:r>
              <a:rPr lang="en-GB" sz="700" i="1" dirty="0">
                <a:latin typeface="Arial" charset="0"/>
                <a:cs typeface="Arial" charset="0"/>
              </a:rPr>
              <a:t>Version:</a:t>
            </a:r>
          </a:p>
        </p:txBody>
      </p:sp>
      <p:sp>
        <p:nvSpPr>
          <p:cNvPr id="1032" name="TextBox 11"/>
          <p:cNvSpPr txBox="1">
            <a:spLocks noChangeArrowheads="1"/>
          </p:cNvSpPr>
          <p:nvPr userDrawn="1"/>
        </p:nvSpPr>
        <p:spPr bwMode="auto">
          <a:xfrm>
            <a:off x="244475" y="788988"/>
            <a:ext cx="1749425" cy="246062"/>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eaLnBrk="1" hangingPunct="1">
              <a:defRPr/>
            </a:pPr>
            <a:r>
              <a:rPr lang="zh-CN" altLang="en-US" sz="1000" b="1" dirty="0">
                <a:latin typeface="Arial" charset="0"/>
                <a:cs typeface="Arial" charset="0"/>
              </a:rPr>
              <a:t>问题描述</a:t>
            </a:r>
            <a:endParaRPr lang="en-GB" sz="1000" b="1" dirty="0">
              <a:latin typeface="Arial" charset="0"/>
              <a:cs typeface="Arial" charset="0"/>
            </a:endParaRPr>
          </a:p>
        </p:txBody>
      </p:sp>
      <p:sp>
        <p:nvSpPr>
          <p:cNvPr id="1035" name="TextBox 14"/>
          <p:cNvSpPr txBox="1">
            <a:spLocks noChangeArrowheads="1"/>
          </p:cNvSpPr>
          <p:nvPr userDrawn="1"/>
        </p:nvSpPr>
        <p:spPr bwMode="auto">
          <a:xfrm>
            <a:off x="2124075" y="788988"/>
            <a:ext cx="1751013" cy="246062"/>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eaLnBrk="1" hangingPunct="1">
              <a:defRPr/>
            </a:pPr>
            <a:r>
              <a:rPr lang="zh-CN" altLang="en-US" sz="1000" b="1" dirty="0">
                <a:latin typeface="Arial" charset="0"/>
                <a:cs typeface="Arial" charset="0"/>
              </a:rPr>
              <a:t>解决方案</a:t>
            </a:r>
            <a:endParaRPr lang="en-GB" sz="1000" b="1" dirty="0">
              <a:latin typeface="Arial" charset="0"/>
              <a:cs typeface="Arial" charset="0"/>
            </a:endParaRPr>
          </a:p>
        </p:txBody>
      </p:sp>
      <p:sp>
        <p:nvSpPr>
          <p:cNvPr id="1036" name="TextBox 15"/>
          <p:cNvSpPr txBox="1">
            <a:spLocks noChangeArrowheads="1"/>
          </p:cNvSpPr>
          <p:nvPr userDrawn="1"/>
        </p:nvSpPr>
        <p:spPr bwMode="auto">
          <a:xfrm>
            <a:off x="2124075" y="2649538"/>
            <a:ext cx="1751013" cy="246062"/>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eaLnBrk="1" hangingPunct="1">
              <a:defRPr/>
            </a:pPr>
            <a:r>
              <a:rPr lang="zh-CN" altLang="en-US" sz="1000" b="1" dirty="0">
                <a:latin typeface="Arial" charset="0"/>
                <a:cs typeface="Arial" charset="0"/>
              </a:rPr>
              <a:t>关键指标</a:t>
            </a:r>
            <a:endParaRPr lang="en-GB" sz="1000" b="1" dirty="0">
              <a:latin typeface="Arial" charset="0"/>
              <a:cs typeface="Arial" charset="0"/>
            </a:endParaRPr>
          </a:p>
        </p:txBody>
      </p:sp>
      <p:sp>
        <p:nvSpPr>
          <p:cNvPr id="1037" name="TextBox 16"/>
          <p:cNvSpPr txBox="1">
            <a:spLocks noChangeArrowheads="1"/>
          </p:cNvSpPr>
          <p:nvPr userDrawn="1"/>
        </p:nvSpPr>
        <p:spPr bwMode="auto">
          <a:xfrm>
            <a:off x="4025900" y="788988"/>
            <a:ext cx="1749425" cy="246062"/>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eaLnBrk="1" hangingPunct="1">
              <a:defRPr/>
            </a:pPr>
            <a:r>
              <a:rPr lang="zh-CN" altLang="en-US" sz="1000" b="1" dirty="0">
                <a:latin typeface="Arial" charset="0"/>
                <a:cs typeface="Arial" charset="0"/>
              </a:rPr>
              <a:t>技术亮点（难点）</a:t>
            </a:r>
            <a:endParaRPr lang="en-GB" sz="1000" b="1" dirty="0">
              <a:latin typeface="Arial" charset="0"/>
              <a:cs typeface="Arial" charset="0"/>
            </a:endParaRPr>
          </a:p>
        </p:txBody>
      </p:sp>
      <p:sp>
        <p:nvSpPr>
          <p:cNvPr id="1038" name="TextBox 17"/>
          <p:cNvSpPr txBox="1">
            <a:spLocks noChangeArrowheads="1"/>
          </p:cNvSpPr>
          <p:nvPr userDrawn="1"/>
        </p:nvSpPr>
        <p:spPr bwMode="auto">
          <a:xfrm>
            <a:off x="5915025" y="2670563"/>
            <a:ext cx="1749425" cy="246062"/>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eaLnBrk="1" hangingPunct="1">
              <a:defRPr/>
            </a:pPr>
            <a:r>
              <a:rPr lang="zh-CN" altLang="en-US" sz="1000" b="1" dirty="0">
                <a:latin typeface="Arial" charset="0"/>
                <a:cs typeface="Arial" charset="0"/>
              </a:rPr>
              <a:t>项目原创性</a:t>
            </a:r>
            <a:endParaRPr lang="en-GB" sz="1000" b="1" dirty="0">
              <a:latin typeface="Arial" charset="0"/>
              <a:cs typeface="Arial" charset="0"/>
            </a:endParaRPr>
          </a:p>
        </p:txBody>
      </p:sp>
      <p:sp>
        <p:nvSpPr>
          <p:cNvPr id="1039" name="TextBox 18"/>
          <p:cNvSpPr txBox="1">
            <a:spLocks noChangeArrowheads="1"/>
          </p:cNvSpPr>
          <p:nvPr userDrawn="1"/>
        </p:nvSpPr>
        <p:spPr bwMode="auto">
          <a:xfrm>
            <a:off x="240179" y="4612502"/>
            <a:ext cx="1749425" cy="246062"/>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eaLnBrk="1" hangingPunct="1">
              <a:defRPr/>
            </a:pPr>
            <a:r>
              <a:rPr lang="zh-CN" altLang="en-US" sz="1000" b="1" dirty="0">
                <a:latin typeface="Arial" charset="0"/>
                <a:cs typeface="Arial" charset="0"/>
              </a:rPr>
              <a:t>落地可行性</a:t>
            </a:r>
            <a:endParaRPr lang="en-GB" sz="1000" b="1" dirty="0">
              <a:latin typeface="Arial" charset="0"/>
              <a:cs typeface="Arial" charset="0"/>
            </a:endParaRPr>
          </a:p>
        </p:txBody>
      </p:sp>
      <p:sp>
        <p:nvSpPr>
          <p:cNvPr id="1041" name="TextBox 20"/>
          <p:cNvSpPr txBox="1">
            <a:spLocks noChangeArrowheads="1"/>
          </p:cNvSpPr>
          <p:nvPr userDrawn="1"/>
        </p:nvSpPr>
        <p:spPr bwMode="auto">
          <a:xfrm>
            <a:off x="7818438" y="788988"/>
            <a:ext cx="1749425" cy="246062"/>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eaLnBrk="1" hangingPunct="1">
              <a:defRPr/>
            </a:pPr>
            <a:r>
              <a:rPr lang="zh-CN" altLang="en-US" sz="1000" b="1" dirty="0">
                <a:latin typeface="Arial" charset="0"/>
                <a:cs typeface="Arial" charset="0"/>
              </a:rPr>
              <a:t>用户细分</a:t>
            </a:r>
            <a:endParaRPr lang="en-GB" sz="1000" b="1" dirty="0">
              <a:latin typeface="Arial" charset="0"/>
              <a:cs typeface="Arial" charset="0"/>
            </a:endParaRPr>
          </a:p>
        </p:txBody>
      </p:sp>
      <p:sp>
        <p:nvSpPr>
          <p:cNvPr id="1043" name="TextBox 22"/>
          <p:cNvSpPr txBox="1">
            <a:spLocks noChangeArrowheads="1"/>
          </p:cNvSpPr>
          <p:nvPr userDrawn="1"/>
        </p:nvSpPr>
        <p:spPr bwMode="auto">
          <a:xfrm>
            <a:off x="4973638" y="4572000"/>
            <a:ext cx="1749425" cy="246221"/>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eaLnBrk="1" hangingPunct="1">
              <a:defRPr/>
            </a:pPr>
            <a:r>
              <a:rPr lang="zh-CN" altLang="en-US" sz="1000" b="1" dirty="0">
                <a:latin typeface="Arial" charset="0"/>
                <a:cs typeface="Arial" charset="0"/>
              </a:rPr>
              <a:t>缺点以及改进方案</a:t>
            </a:r>
            <a:endParaRPr lang="en-GB" sz="1000" b="1" dirty="0">
              <a:latin typeface="Arial" charset="0"/>
              <a:cs typeface="Arial" charset="0"/>
            </a:endParaRPr>
          </a:p>
        </p:txBody>
      </p:sp>
      <p:sp>
        <p:nvSpPr>
          <p:cNvPr id="25" name="Rectangle 24"/>
          <p:cNvSpPr/>
          <p:nvPr userDrawn="1"/>
        </p:nvSpPr>
        <p:spPr>
          <a:xfrm>
            <a:off x="244475" y="762000"/>
            <a:ext cx="1879600" cy="3810000"/>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GB" dirty="0"/>
          </a:p>
        </p:txBody>
      </p:sp>
      <p:sp>
        <p:nvSpPr>
          <p:cNvPr id="26" name="Rectangle 25"/>
          <p:cNvSpPr/>
          <p:nvPr userDrawn="1"/>
        </p:nvSpPr>
        <p:spPr>
          <a:xfrm>
            <a:off x="2124075" y="760413"/>
            <a:ext cx="1881188" cy="1882775"/>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GB" dirty="0"/>
          </a:p>
        </p:txBody>
      </p:sp>
      <p:sp>
        <p:nvSpPr>
          <p:cNvPr id="27" name="Rectangle 26"/>
          <p:cNvSpPr/>
          <p:nvPr userDrawn="1"/>
        </p:nvSpPr>
        <p:spPr>
          <a:xfrm>
            <a:off x="2124075" y="2643188"/>
            <a:ext cx="1881188" cy="1928812"/>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GB" dirty="0"/>
          </a:p>
        </p:txBody>
      </p:sp>
      <p:sp>
        <p:nvSpPr>
          <p:cNvPr id="28" name="Rectangle 27"/>
          <p:cNvSpPr/>
          <p:nvPr userDrawn="1"/>
        </p:nvSpPr>
        <p:spPr>
          <a:xfrm>
            <a:off x="4005263" y="762000"/>
            <a:ext cx="1879600" cy="3810000"/>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GB" dirty="0"/>
          </a:p>
        </p:txBody>
      </p:sp>
      <p:sp>
        <p:nvSpPr>
          <p:cNvPr id="29" name="Rectangle 28"/>
          <p:cNvSpPr/>
          <p:nvPr userDrawn="1"/>
        </p:nvSpPr>
        <p:spPr>
          <a:xfrm>
            <a:off x="5884863" y="762000"/>
            <a:ext cx="1879600" cy="1882775"/>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GB" dirty="0"/>
          </a:p>
        </p:txBody>
      </p:sp>
      <p:sp>
        <p:nvSpPr>
          <p:cNvPr id="30" name="Rectangle 29"/>
          <p:cNvSpPr/>
          <p:nvPr userDrawn="1"/>
        </p:nvSpPr>
        <p:spPr>
          <a:xfrm>
            <a:off x="5884863" y="2643188"/>
            <a:ext cx="1879600" cy="1928812"/>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GB" dirty="0"/>
          </a:p>
        </p:txBody>
      </p:sp>
      <p:sp>
        <p:nvSpPr>
          <p:cNvPr id="31" name="Rectangle 30"/>
          <p:cNvSpPr/>
          <p:nvPr userDrawn="1"/>
        </p:nvSpPr>
        <p:spPr>
          <a:xfrm>
            <a:off x="7770813" y="762000"/>
            <a:ext cx="1881187" cy="3810000"/>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GB" dirty="0"/>
          </a:p>
        </p:txBody>
      </p:sp>
      <p:sp>
        <p:nvSpPr>
          <p:cNvPr id="32" name="Rectangle 31"/>
          <p:cNvSpPr/>
          <p:nvPr userDrawn="1"/>
        </p:nvSpPr>
        <p:spPr>
          <a:xfrm>
            <a:off x="244475" y="4579938"/>
            <a:ext cx="4713288" cy="1820862"/>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GB" dirty="0"/>
          </a:p>
        </p:txBody>
      </p:sp>
      <p:sp>
        <p:nvSpPr>
          <p:cNvPr id="33" name="Rectangle 32"/>
          <p:cNvSpPr/>
          <p:nvPr userDrawn="1"/>
        </p:nvSpPr>
        <p:spPr>
          <a:xfrm>
            <a:off x="4957763" y="4579938"/>
            <a:ext cx="4692650" cy="1820862"/>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GB" dirty="0"/>
          </a:p>
        </p:txBody>
      </p:sp>
      <p:pic>
        <p:nvPicPr>
          <p:cNvPr id="1053" name="Picture 13"/>
          <p:cNvPicPr>
            <a:picLocks noChangeAspect="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9312274" y="656089"/>
            <a:ext cx="360363"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4" name="Picture 14"/>
          <p:cNvPicPr>
            <a:picLocks noChangeAspect="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530165" y="731837"/>
            <a:ext cx="360362"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5" name="Picture 16"/>
          <p:cNvPicPr>
            <a:picLocks noChangeAspect="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858838" y="706438"/>
            <a:ext cx="360362"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6" name="Picture 17"/>
          <p:cNvPicPr>
            <a:picLocks noChangeAspect="1"/>
          </p:cNvPicPr>
          <p:nvPr userDrawn="1"/>
        </p:nvPicPr>
        <p:blipFill>
          <a:blip r:embed="rId7">
            <a:extLst>
              <a:ext uri="{28A0092B-C50C-407E-A947-70E740481C1C}">
                <a14:useLocalDpi xmlns:a14="http://schemas.microsoft.com/office/drawing/2010/main" val="0"/>
              </a:ext>
            </a:extLst>
          </a:blip>
          <a:srcRect l="11171"/>
          <a:stretch>
            <a:fillRect/>
          </a:stretch>
        </p:blipFill>
        <p:spPr bwMode="auto">
          <a:xfrm>
            <a:off x="6680667" y="4495800"/>
            <a:ext cx="360362"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7" name="Picture 19"/>
          <p:cNvPicPr>
            <a:picLocks noChangeAspect="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2735439" y="630876"/>
            <a:ext cx="410788" cy="410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8" name="Picture 20"/>
          <p:cNvPicPr>
            <a:picLocks noChangeAspect="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7397471" y="762000"/>
            <a:ext cx="36036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9" name="Picture 21"/>
          <p:cNvPicPr>
            <a:picLocks noChangeAspect="1"/>
          </p:cNvPicPr>
          <p:nvPr userDrawn="1"/>
        </p:nvPicPr>
        <p:blipFill>
          <a:blip r:embed="rId10">
            <a:extLst>
              <a:ext uri="{28A0092B-C50C-407E-A947-70E740481C1C}">
                <a14:useLocalDpi xmlns:a14="http://schemas.microsoft.com/office/drawing/2010/main" val="0"/>
              </a:ext>
            </a:extLst>
          </a:blip>
          <a:srcRect t="8025" r="6839"/>
          <a:stretch>
            <a:fillRect/>
          </a:stretch>
        </p:blipFill>
        <p:spPr bwMode="auto">
          <a:xfrm>
            <a:off x="1004094" y="4510880"/>
            <a:ext cx="360362"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0" name="Picture 15"/>
          <p:cNvPicPr>
            <a:picLocks noChangeAspect="1"/>
          </p:cNvPicPr>
          <p:nvPr userDrawn="1"/>
        </p:nvPicPr>
        <p:blipFill>
          <a:blip r:embed="rId11">
            <a:extLst>
              <a:ext uri="{28A0092B-C50C-407E-A947-70E740481C1C}">
                <a14:useLocalDpi xmlns:a14="http://schemas.microsoft.com/office/drawing/2010/main" val="0"/>
              </a:ext>
            </a:extLst>
          </a:blip>
          <a:srcRect/>
          <a:stretch>
            <a:fillRect/>
          </a:stretch>
        </p:blipFill>
        <p:spPr bwMode="auto">
          <a:xfrm>
            <a:off x="7397472" y="2613413"/>
            <a:ext cx="360362"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1" name="Picture 18"/>
          <p:cNvPicPr>
            <a:picLocks noChangeAspect="1"/>
          </p:cNvPicPr>
          <p:nvPr userDrawn="1"/>
        </p:nvPicPr>
        <p:blipFill>
          <a:blip r:embed="rId12">
            <a:extLst>
              <a:ext uri="{28A0092B-C50C-407E-A947-70E740481C1C}">
                <a14:useLocalDpi xmlns:a14="http://schemas.microsoft.com/office/drawing/2010/main" val="0"/>
              </a:ext>
            </a:extLst>
          </a:blip>
          <a:srcRect b="6728"/>
          <a:stretch>
            <a:fillRect/>
          </a:stretch>
        </p:blipFill>
        <p:spPr bwMode="auto">
          <a:xfrm>
            <a:off x="2814263" y="2574690"/>
            <a:ext cx="36036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TextBox 17">
            <a:extLst>
              <a:ext uri="{FF2B5EF4-FFF2-40B4-BE49-F238E27FC236}">
                <a16:creationId xmlns:a16="http://schemas.microsoft.com/office/drawing/2014/main" id="{94D14E0D-2E0F-449C-BC27-5ECFBB381318}"/>
              </a:ext>
            </a:extLst>
          </p:cNvPr>
          <p:cNvSpPr txBox="1">
            <a:spLocks noChangeArrowheads="1"/>
          </p:cNvSpPr>
          <p:nvPr userDrawn="1"/>
        </p:nvSpPr>
        <p:spPr bwMode="auto">
          <a:xfrm>
            <a:off x="5932488" y="788988"/>
            <a:ext cx="1749425" cy="246062"/>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eaLnBrk="1" hangingPunct="1">
              <a:defRPr/>
            </a:pPr>
            <a:r>
              <a:rPr lang="zh-CN" altLang="en-US" sz="1000" b="1" dirty="0">
                <a:latin typeface="Arial" charset="0"/>
                <a:cs typeface="Arial" charset="0"/>
              </a:rPr>
              <a:t>竞争壁垒</a:t>
            </a:r>
            <a:endParaRPr lang="en-GB" sz="1000" b="1" dirty="0">
              <a:latin typeface="Arial" charset="0"/>
              <a:cs typeface="Arial" charset="0"/>
            </a:endParaRP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ctr" defTabSz="457200" rtl="0" eaLnBrk="0" fontAlgn="base" hangingPunct="0">
        <a:spcBef>
          <a:spcPct val="0"/>
        </a:spcBef>
        <a:spcAft>
          <a:spcPct val="0"/>
        </a:spcAft>
        <a:defRPr sz="4400" kern="1200">
          <a:solidFill>
            <a:schemeClr val="tx1"/>
          </a:solidFill>
          <a:latin typeface="Arial"/>
          <a:ea typeface="MS PGothic" panose="020B0600070205080204" pitchFamily="34" charset="-128"/>
          <a:cs typeface="Arial"/>
        </a:defRPr>
      </a:lvl1pPr>
      <a:lvl2pPr algn="ctr" defTabSz="457200" rtl="0" eaLnBrk="0" fontAlgn="base" hangingPunct="0">
        <a:spcBef>
          <a:spcPct val="0"/>
        </a:spcBef>
        <a:spcAft>
          <a:spcPct val="0"/>
        </a:spcAft>
        <a:defRPr sz="4400">
          <a:solidFill>
            <a:schemeClr val="tx1"/>
          </a:solidFill>
          <a:latin typeface="Arial" charset="0"/>
          <a:ea typeface="MS PGothic" panose="020B0600070205080204" pitchFamily="34" charset="-128"/>
          <a:cs typeface="Arial" panose="020B0604020202020204" pitchFamily="34" charset="0"/>
        </a:defRPr>
      </a:lvl2pPr>
      <a:lvl3pPr algn="ctr" defTabSz="457200" rtl="0" eaLnBrk="0" fontAlgn="base" hangingPunct="0">
        <a:spcBef>
          <a:spcPct val="0"/>
        </a:spcBef>
        <a:spcAft>
          <a:spcPct val="0"/>
        </a:spcAft>
        <a:defRPr sz="4400">
          <a:solidFill>
            <a:schemeClr val="tx1"/>
          </a:solidFill>
          <a:latin typeface="Arial" charset="0"/>
          <a:ea typeface="MS PGothic" panose="020B0600070205080204" pitchFamily="34" charset="-128"/>
          <a:cs typeface="Arial" panose="020B0604020202020204" pitchFamily="34" charset="0"/>
        </a:defRPr>
      </a:lvl3pPr>
      <a:lvl4pPr algn="ctr" defTabSz="457200" rtl="0" eaLnBrk="0" fontAlgn="base" hangingPunct="0">
        <a:spcBef>
          <a:spcPct val="0"/>
        </a:spcBef>
        <a:spcAft>
          <a:spcPct val="0"/>
        </a:spcAft>
        <a:defRPr sz="4400">
          <a:solidFill>
            <a:schemeClr val="tx1"/>
          </a:solidFill>
          <a:latin typeface="Arial" charset="0"/>
          <a:ea typeface="MS PGothic" panose="020B0600070205080204" pitchFamily="34" charset="-128"/>
          <a:cs typeface="Arial" panose="020B0604020202020204" pitchFamily="34" charset="0"/>
        </a:defRPr>
      </a:lvl4pPr>
      <a:lvl5pPr algn="ctr" defTabSz="457200" rtl="0" eaLnBrk="0" fontAlgn="base" hangingPunct="0">
        <a:spcBef>
          <a:spcPct val="0"/>
        </a:spcBef>
        <a:spcAft>
          <a:spcPct val="0"/>
        </a:spcAft>
        <a:defRPr sz="4400">
          <a:solidFill>
            <a:schemeClr val="tx1"/>
          </a:solidFill>
          <a:latin typeface="Arial" charset="0"/>
          <a:ea typeface="MS PGothic" panose="020B0600070205080204" pitchFamily="34" charset="-128"/>
          <a:cs typeface="Arial" panose="020B0604020202020204" pitchFamily="34" charset="0"/>
        </a:defRPr>
      </a:lvl5pPr>
      <a:lvl6pPr marL="457200" algn="ctr" defTabSz="457200" rtl="0" fontAlgn="base">
        <a:spcBef>
          <a:spcPct val="0"/>
        </a:spcBef>
        <a:spcAft>
          <a:spcPct val="0"/>
        </a:spcAft>
        <a:defRPr sz="4400">
          <a:solidFill>
            <a:schemeClr val="tx1"/>
          </a:solidFill>
          <a:latin typeface="Arial" charset="0"/>
          <a:ea typeface="ＭＳ Ｐゴシック" charset="0"/>
        </a:defRPr>
      </a:lvl6pPr>
      <a:lvl7pPr marL="914400" algn="ctr" defTabSz="457200" rtl="0" fontAlgn="base">
        <a:spcBef>
          <a:spcPct val="0"/>
        </a:spcBef>
        <a:spcAft>
          <a:spcPct val="0"/>
        </a:spcAft>
        <a:defRPr sz="4400">
          <a:solidFill>
            <a:schemeClr val="tx1"/>
          </a:solidFill>
          <a:latin typeface="Arial" charset="0"/>
          <a:ea typeface="ＭＳ Ｐゴシック" charset="0"/>
        </a:defRPr>
      </a:lvl7pPr>
      <a:lvl8pPr marL="1371600" algn="ctr" defTabSz="457200" rtl="0" fontAlgn="base">
        <a:spcBef>
          <a:spcPct val="0"/>
        </a:spcBef>
        <a:spcAft>
          <a:spcPct val="0"/>
        </a:spcAft>
        <a:defRPr sz="4400">
          <a:solidFill>
            <a:schemeClr val="tx1"/>
          </a:solidFill>
          <a:latin typeface="Arial" charset="0"/>
          <a:ea typeface="ＭＳ Ｐゴシック" charset="0"/>
        </a:defRPr>
      </a:lvl8pPr>
      <a:lvl9pPr marL="1828800" algn="ctr" defTabSz="457200" rtl="0" fontAlgn="base">
        <a:spcBef>
          <a:spcPct val="0"/>
        </a:spcBef>
        <a:spcAft>
          <a:spcPct val="0"/>
        </a:spcAft>
        <a:defRPr sz="4400">
          <a:solidFill>
            <a:schemeClr val="tx1"/>
          </a:solidFill>
          <a:latin typeface="Arial" charset="0"/>
          <a:ea typeface="ＭＳ Ｐゴシック" charset="0"/>
        </a:defRPr>
      </a:lvl9pPr>
    </p:titleStyle>
    <p:bodyStyle>
      <a:lvl1pPr marL="342900" indent="-342900" algn="l" defTabSz="457200" rtl="0" eaLnBrk="0" fontAlgn="base" hangingPunct="0">
        <a:spcBef>
          <a:spcPct val="20000"/>
        </a:spcBef>
        <a:spcAft>
          <a:spcPct val="0"/>
        </a:spcAft>
        <a:buFont typeface="Arial" panose="020B0604020202020204" pitchFamily="34" charset="0"/>
        <a:buChar char="•"/>
        <a:defRPr sz="3200" kern="1200">
          <a:solidFill>
            <a:schemeClr val="tx1"/>
          </a:solidFill>
          <a:latin typeface="Arial"/>
          <a:ea typeface="MS PGothic" panose="020B0600070205080204" pitchFamily="34" charset="-128"/>
          <a:cs typeface="Arial"/>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Arial"/>
          <a:ea typeface="MS PGothic" panose="020B0600070205080204" pitchFamily="34" charset="-128"/>
          <a:cs typeface="Arial"/>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Arial"/>
          <a:ea typeface="MS PGothic" panose="020B0600070205080204" pitchFamily="34" charset="-128"/>
          <a:cs typeface="Arial"/>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a:ea typeface="MS PGothic" panose="020B0600070205080204" pitchFamily="34" charset="-128"/>
          <a:cs typeface="Arial"/>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a:ea typeface="MS PGothic" panose="020B0600070205080204" pitchFamily="34"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 Placeholder 33">
            <a:extLst>
              <a:ext uri="{FF2B5EF4-FFF2-40B4-BE49-F238E27FC236}">
                <a16:creationId xmlns:a16="http://schemas.microsoft.com/office/drawing/2014/main" id="{3DD26212-DFD3-4928-A8F9-6EDB52F28E07}"/>
              </a:ext>
            </a:extLst>
          </p:cNvPr>
          <p:cNvSpPr>
            <a:spLocks noGrp="1"/>
          </p:cNvSpPr>
          <p:nvPr>
            <p:ph type="body" sz="quarter" idx="10"/>
          </p:nvPr>
        </p:nvSpPr>
        <p:spPr>
          <a:xfrm>
            <a:off x="309424" y="1066800"/>
            <a:ext cx="1754326" cy="3200400"/>
          </a:xfrm>
        </p:spPr>
        <p:txBody>
          <a:bodyPr/>
          <a:lstStyle/>
          <a:p>
            <a:pPr algn="just">
              <a:spcBef>
                <a:spcPts val="0"/>
              </a:spcBef>
            </a:pPr>
            <a:r>
              <a:rPr lang="zh-CN" altLang="en-US" b="1" dirty="0">
                <a:latin typeface="PingFang SC"/>
              </a:rPr>
              <a:t>（</a:t>
            </a:r>
            <a:r>
              <a:rPr lang="en-US" altLang="zh-CN" b="1" dirty="0">
                <a:latin typeface="PingFang SC"/>
              </a:rPr>
              <a:t>1</a:t>
            </a:r>
            <a:r>
              <a:rPr lang="zh-CN" altLang="en-US" b="1" dirty="0">
                <a:latin typeface="PingFang SC"/>
              </a:rPr>
              <a:t>）可疑交易检测问题：</a:t>
            </a:r>
            <a:r>
              <a:rPr lang="en-US" altLang="zh-CN" dirty="0">
                <a:latin typeface="PingFang SC"/>
              </a:rPr>
              <a:t>NFT</a:t>
            </a:r>
            <a:r>
              <a:rPr lang="zh-CN" altLang="en-US" dirty="0">
                <a:latin typeface="PingFang SC"/>
              </a:rPr>
              <a:t>因其可验证性和无需信任的转移等特征，极易被不法分子利用起来进行非法洗钱活动。</a:t>
            </a:r>
            <a:r>
              <a:rPr lang="zh-CN" altLang="zh-CN" dirty="0">
                <a:latin typeface="PingFang SC"/>
              </a:rPr>
              <a:t>针对</a:t>
            </a:r>
            <a:r>
              <a:rPr lang="en-US" altLang="zh-CN" dirty="0">
                <a:latin typeface="PingFang SC"/>
              </a:rPr>
              <a:t>NFT</a:t>
            </a:r>
            <a:r>
              <a:rPr lang="zh-CN" altLang="zh-CN" dirty="0">
                <a:latin typeface="PingFang SC"/>
              </a:rPr>
              <a:t>交易区块链中的信息进行符合现实情况的建模，综合处理多模态数据特征及其交互等是持续可疑交易监测的难点</a:t>
            </a:r>
            <a:r>
              <a:rPr lang="zh-CN" altLang="en-US" dirty="0">
                <a:latin typeface="PingFang SC"/>
              </a:rPr>
              <a:t>；</a:t>
            </a:r>
            <a:endParaRPr lang="en-US" altLang="zh-CN" dirty="0">
              <a:latin typeface="PingFang SC"/>
            </a:endParaRPr>
          </a:p>
          <a:p>
            <a:pPr algn="just">
              <a:spcBef>
                <a:spcPts val="0"/>
              </a:spcBef>
            </a:pPr>
            <a:r>
              <a:rPr lang="zh-CN" altLang="en-US" b="1" dirty="0">
                <a:latin typeface="PingFang SC"/>
              </a:rPr>
              <a:t>（</a:t>
            </a:r>
            <a:r>
              <a:rPr lang="en-US" altLang="zh-CN" b="1" dirty="0">
                <a:latin typeface="PingFang SC"/>
              </a:rPr>
              <a:t>2</a:t>
            </a:r>
            <a:r>
              <a:rPr lang="zh-CN" altLang="en-US" b="1" dirty="0">
                <a:latin typeface="PingFang SC"/>
              </a:rPr>
              <a:t>）</a:t>
            </a:r>
            <a:r>
              <a:rPr lang="zh-CN" altLang="zh-CN" b="1" dirty="0">
                <a:latin typeface="PingFang SC"/>
              </a:rPr>
              <a:t>平台间隐私壁垒问题</a:t>
            </a:r>
            <a:r>
              <a:rPr lang="zh-CN" altLang="en-US" b="1" dirty="0">
                <a:latin typeface="PingFang SC"/>
              </a:rPr>
              <a:t>：</a:t>
            </a:r>
            <a:r>
              <a:rPr lang="zh-CN" altLang="zh-CN" dirty="0">
                <a:latin typeface="PingFang SC"/>
              </a:rPr>
              <a:t>由于平台之间的竞争关系，共享数据可能会泄露商业级秘密或导致用户流失</a:t>
            </a:r>
            <a:r>
              <a:rPr lang="en-US" altLang="zh-CN" dirty="0">
                <a:latin typeface="PingFang SC"/>
              </a:rPr>
              <a:t>,NFT</a:t>
            </a:r>
            <a:r>
              <a:rPr lang="zh-CN" altLang="zh-CN" dirty="0">
                <a:latin typeface="PingFang SC"/>
              </a:rPr>
              <a:t>交易平台并不愿意公开其交易数据，加之平台之间数据格式不一致等原因，现有技术只能利用单一平台内的交易数据进行模型训练，这将限制可疑交易监测的精度和可靠性</a:t>
            </a:r>
            <a:r>
              <a:rPr lang="zh-CN" altLang="en-US" dirty="0">
                <a:latin typeface="PingFang SC"/>
              </a:rPr>
              <a:t>；</a:t>
            </a:r>
            <a:endParaRPr lang="en-US" altLang="zh-CN" dirty="0">
              <a:latin typeface="PingFang SC"/>
            </a:endParaRPr>
          </a:p>
          <a:p>
            <a:pPr algn="just">
              <a:spcBef>
                <a:spcPts val="0"/>
              </a:spcBef>
            </a:pPr>
            <a:r>
              <a:rPr lang="zh-CN" altLang="en-US" b="1" dirty="0">
                <a:latin typeface="PingFang SC"/>
              </a:rPr>
              <a:t>（</a:t>
            </a:r>
            <a:r>
              <a:rPr lang="en-US" altLang="zh-CN" b="1" dirty="0">
                <a:latin typeface="PingFang SC"/>
              </a:rPr>
              <a:t>3</a:t>
            </a:r>
            <a:r>
              <a:rPr lang="zh-CN" altLang="en-US" b="1" dirty="0">
                <a:latin typeface="PingFang SC"/>
              </a:rPr>
              <a:t>）平台安全性管理问题：</a:t>
            </a:r>
            <a:r>
              <a:rPr lang="zh-CN" altLang="en-US" dirty="0">
                <a:latin typeface="PingFang SC"/>
              </a:rPr>
              <a:t>真正有效地减少平台内部的洗钱行为，需要着眼于平台自身架构与设计中存在的缺陷，并系统性地评估各交易平台的安全性，发现和量化平台中存在的缺陷，从根源上减少洗钱行为；</a:t>
            </a:r>
            <a:endParaRPr lang="en-US" dirty="0">
              <a:latin typeface="PingFang SC"/>
            </a:endParaRPr>
          </a:p>
        </p:txBody>
      </p:sp>
      <p:sp>
        <p:nvSpPr>
          <p:cNvPr id="35" name="Text Placeholder 34">
            <a:extLst>
              <a:ext uri="{FF2B5EF4-FFF2-40B4-BE49-F238E27FC236}">
                <a16:creationId xmlns:a16="http://schemas.microsoft.com/office/drawing/2014/main" id="{20AA0250-BC1C-476A-957A-09D8B5DE92F2}"/>
              </a:ext>
            </a:extLst>
          </p:cNvPr>
          <p:cNvSpPr>
            <a:spLocks noGrp="1"/>
          </p:cNvSpPr>
          <p:nvPr>
            <p:ph type="body" sz="quarter" idx="11"/>
          </p:nvPr>
        </p:nvSpPr>
        <p:spPr>
          <a:xfrm>
            <a:off x="2185335" y="1060800"/>
            <a:ext cx="1754326" cy="1530000"/>
          </a:xfrm>
        </p:spPr>
        <p:txBody>
          <a:bodyPr/>
          <a:lstStyle/>
          <a:p>
            <a:pPr algn="just"/>
            <a:r>
              <a:rPr lang="zh-CN" altLang="zh-CN" b="1" dirty="0"/>
              <a:t>（</a:t>
            </a:r>
            <a:r>
              <a:rPr lang="en-US" altLang="zh-CN" b="1" dirty="0"/>
              <a:t>1</a:t>
            </a:r>
            <a:r>
              <a:rPr lang="zh-CN" altLang="zh-CN" b="1" dirty="0"/>
              <a:t>）跨平台多特征可疑交易监测</a:t>
            </a:r>
            <a:r>
              <a:rPr lang="zh-CN" altLang="en-US" b="1" dirty="0"/>
              <a:t>技术</a:t>
            </a:r>
            <a:r>
              <a:rPr lang="en-US" altLang="zh-CN" b="1" dirty="0" err="1"/>
              <a:t>FedBoost</a:t>
            </a:r>
            <a:r>
              <a:rPr lang="zh-CN" altLang="en-US" b="1" dirty="0"/>
              <a:t>：</a:t>
            </a:r>
            <a:r>
              <a:rPr lang="zh-CN" altLang="en-US" dirty="0"/>
              <a:t>通过将</a:t>
            </a:r>
            <a:r>
              <a:rPr lang="en-US" altLang="zh-CN" dirty="0" err="1"/>
              <a:t>XGBoost</a:t>
            </a:r>
            <a:r>
              <a:rPr lang="zh-CN" altLang="en-US" dirty="0"/>
              <a:t>算法与联邦学习技术相结合，实现对</a:t>
            </a:r>
            <a:r>
              <a:rPr lang="zh-CN" altLang="zh-CN" dirty="0"/>
              <a:t>平台</a:t>
            </a:r>
            <a:r>
              <a:rPr lang="zh-CN" altLang="en-US" dirty="0"/>
              <a:t>内可疑</a:t>
            </a:r>
            <a:r>
              <a:rPr lang="zh-CN" altLang="zh-CN" dirty="0"/>
              <a:t>交易的高效</a:t>
            </a:r>
            <a:r>
              <a:rPr lang="zh-CN" altLang="en-US" dirty="0"/>
              <a:t>监测以及不共享数据前提下的跨平台多特征监测功能；</a:t>
            </a:r>
            <a:endParaRPr lang="en-US" altLang="zh-CN" dirty="0"/>
          </a:p>
          <a:p>
            <a:pPr algn="just"/>
            <a:r>
              <a:rPr lang="zh-CN" altLang="en-US" b="1" dirty="0"/>
              <a:t>（</a:t>
            </a:r>
            <a:r>
              <a:rPr lang="en-US" altLang="zh-CN" b="1" dirty="0"/>
              <a:t>2</a:t>
            </a:r>
            <a:r>
              <a:rPr lang="zh-CN" altLang="en-US" b="1" dirty="0"/>
              <a:t>）多指标平台安全性评估报告</a:t>
            </a:r>
            <a:r>
              <a:rPr lang="zh-CN" altLang="en-US" dirty="0"/>
              <a:t>：从用户认证、令牌铸造、</a:t>
            </a:r>
            <a:r>
              <a:rPr lang="en-US" altLang="zh-CN" dirty="0"/>
              <a:t>NFT</a:t>
            </a:r>
            <a:r>
              <a:rPr lang="zh-CN" altLang="en-US" dirty="0"/>
              <a:t>上市、</a:t>
            </a:r>
            <a:r>
              <a:rPr lang="en-US" altLang="zh-CN" dirty="0"/>
              <a:t>NFT</a:t>
            </a:r>
            <a:r>
              <a:rPr lang="zh-CN" altLang="en-US" dirty="0"/>
              <a:t>交易四个维度出发，提供</a:t>
            </a:r>
            <a:r>
              <a:rPr lang="zh-CN" altLang="zh-CN" dirty="0"/>
              <a:t>一份平台安全性评估报告</a:t>
            </a:r>
            <a:r>
              <a:rPr lang="zh-CN" altLang="en-US" dirty="0"/>
              <a:t>；</a:t>
            </a:r>
            <a:endParaRPr lang="zh-CN" altLang="zh-CN" dirty="0"/>
          </a:p>
        </p:txBody>
      </p:sp>
      <p:sp>
        <p:nvSpPr>
          <p:cNvPr id="36" name="Text Placeholder 35">
            <a:extLst>
              <a:ext uri="{FF2B5EF4-FFF2-40B4-BE49-F238E27FC236}">
                <a16:creationId xmlns:a16="http://schemas.microsoft.com/office/drawing/2014/main" id="{BA808A33-0270-47B9-872B-5019FAF22ACE}"/>
              </a:ext>
            </a:extLst>
          </p:cNvPr>
          <p:cNvSpPr>
            <a:spLocks noGrp="1"/>
          </p:cNvSpPr>
          <p:nvPr>
            <p:ph type="body" sz="quarter" idx="12"/>
          </p:nvPr>
        </p:nvSpPr>
        <p:spPr>
          <a:xfrm>
            <a:off x="4038600" y="1027490"/>
            <a:ext cx="1828799" cy="3428762"/>
          </a:xfrm>
        </p:spPr>
        <p:txBody>
          <a:bodyPr/>
          <a:lstStyle/>
          <a:p>
            <a:pPr algn="just"/>
            <a:r>
              <a:rPr lang="zh-CN" altLang="en-US" b="1" dirty="0"/>
              <a:t>（</a:t>
            </a:r>
            <a:r>
              <a:rPr lang="en-US" altLang="zh-CN" b="1" dirty="0"/>
              <a:t>1</a:t>
            </a:r>
            <a:r>
              <a:rPr lang="zh-CN" altLang="en-US" b="1" dirty="0"/>
              <a:t>）</a:t>
            </a:r>
            <a:r>
              <a:rPr lang="zh-CN" altLang="zh-CN" b="1" dirty="0"/>
              <a:t>可疑交易监测算法</a:t>
            </a:r>
            <a:r>
              <a:rPr lang="en-US" altLang="zh-CN" b="1" dirty="0" err="1"/>
              <a:t>XGBoost</a:t>
            </a:r>
            <a:r>
              <a:rPr lang="zh-CN" altLang="zh-CN" b="1" dirty="0"/>
              <a:t>算法</a:t>
            </a:r>
            <a:r>
              <a:rPr lang="zh-CN" altLang="en-US" b="1" dirty="0"/>
              <a:t>：</a:t>
            </a:r>
            <a:r>
              <a:rPr lang="en-US" altLang="zh-CN" dirty="0" err="1"/>
              <a:t>XGBoost</a:t>
            </a:r>
            <a:r>
              <a:rPr lang="zh-CN" altLang="zh-CN" dirty="0"/>
              <a:t>算法是</a:t>
            </a:r>
            <a:r>
              <a:rPr lang="en-US" altLang="zh-CN" dirty="0"/>
              <a:t> Gradient Boosting</a:t>
            </a:r>
            <a:r>
              <a:rPr lang="zh-CN" altLang="zh-CN" dirty="0"/>
              <a:t>方法的一种高效实现，也是</a:t>
            </a:r>
            <a:r>
              <a:rPr lang="en-US" altLang="zh-CN" dirty="0"/>
              <a:t> GBDT </a:t>
            </a:r>
            <a:r>
              <a:rPr lang="zh-CN" altLang="zh-CN" dirty="0"/>
              <a:t>算法的改进和提高。相比于传统的</a:t>
            </a:r>
            <a:r>
              <a:rPr lang="en-US" altLang="zh-CN" dirty="0"/>
              <a:t> GBDT </a:t>
            </a:r>
            <a:r>
              <a:rPr lang="zh-CN" altLang="zh-CN" dirty="0"/>
              <a:t>算法，</a:t>
            </a:r>
            <a:r>
              <a:rPr lang="en-US" altLang="zh-CN" dirty="0" err="1"/>
              <a:t>XGBoost</a:t>
            </a:r>
            <a:r>
              <a:rPr lang="zh-CN" altLang="en-US" dirty="0"/>
              <a:t>算法不仅</a:t>
            </a:r>
            <a:r>
              <a:rPr lang="zh-CN" altLang="zh-CN" dirty="0"/>
              <a:t>在计算速度上比常见工具包快</a:t>
            </a:r>
            <a:r>
              <a:rPr lang="en-US" altLang="zh-CN" dirty="0"/>
              <a:t>5</a:t>
            </a:r>
            <a:r>
              <a:rPr lang="zh-CN" altLang="zh-CN" dirty="0"/>
              <a:t>倍以上</a:t>
            </a:r>
            <a:r>
              <a:rPr lang="zh-CN" altLang="en-US" dirty="0"/>
              <a:t>，同时在多特征数据处理上表现也更为优秀；</a:t>
            </a:r>
            <a:endParaRPr lang="en-US" altLang="zh-CN" dirty="0"/>
          </a:p>
          <a:p>
            <a:pPr algn="just"/>
            <a:r>
              <a:rPr lang="zh-CN" altLang="en-US" b="1" dirty="0"/>
              <a:t>（</a:t>
            </a:r>
            <a:r>
              <a:rPr lang="en-US" altLang="zh-CN" b="1" dirty="0"/>
              <a:t>2</a:t>
            </a:r>
            <a:r>
              <a:rPr lang="zh-CN" altLang="en-US" b="1" dirty="0"/>
              <a:t>）</a:t>
            </a:r>
            <a:r>
              <a:rPr lang="zh-CN" altLang="zh-CN" b="1" dirty="0"/>
              <a:t>基于联邦学习的</a:t>
            </a:r>
            <a:r>
              <a:rPr lang="en-US" altLang="zh-CN" b="1" dirty="0"/>
              <a:t> NFT </a:t>
            </a:r>
            <a:r>
              <a:rPr lang="zh-CN" altLang="zh-CN" b="1" dirty="0"/>
              <a:t>可疑交易监测</a:t>
            </a:r>
            <a:r>
              <a:rPr lang="zh-CN" altLang="en-US" b="1" dirty="0"/>
              <a:t>模型</a:t>
            </a:r>
            <a:r>
              <a:rPr lang="en-US" altLang="zh-CN" b="1" dirty="0" err="1"/>
              <a:t>FedBoost</a:t>
            </a:r>
            <a:r>
              <a:rPr lang="zh-CN" altLang="en-US" b="1" dirty="0"/>
              <a:t>：</a:t>
            </a:r>
            <a:r>
              <a:rPr lang="en-US" altLang="zh-CN" dirty="0" err="1"/>
              <a:t>FedBoost</a:t>
            </a:r>
            <a:r>
              <a:rPr lang="en-US" altLang="zh-CN" dirty="0"/>
              <a:t> </a:t>
            </a:r>
            <a:r>
              <a:rPr lang="zh-CN" altLang="zh-CN" dirty="0"/>
              <a:t>采用横纵向结合的联邦学习进行反洗钱建模</a:t>
            </a:r>
            <a:r>
              <a:rPr lang="zh-CN" altLang="en-US" dirty="0"/>
              <a:t>，可以在不需要平台间直接共享数据的条件下实现多平台数据协作，充分减轻了平台间隐私对反洗钱工作的阻碍。</a:t>
            </a:r>
            <a:endParaRPr lang="en-US" altLang="zh-CN" dirty="0"/>
          </a:p>
          <a:p>
            <a:pPr algn="just"/>
            <a:r>
              <a:rPr lang="zh-CN" altLang="en-US" b="1" dirty="0"/>
              <a:t>（</a:t>
            </a:r>
            <a:r>
              <a:rPr lang="en-US" altLang="zh-CN" b="1" dirty="0"/>
              <a:t>3</a:t>
            </a:r>
            <a:r>
              <a:rPr lang="zh-CN" altLang="en-US" b="1" dirty="0"/>
              <a:t>）</a:t>
            </a:r>
            <a:r>
              <a:rPr lang="en-US" altLang="zh-CN" b="1" dirty="0"/>
              <a:t>NFT</a:t>
            </a:r>
            <a:r>
              <a:rPr lang="zh-CN" altLang="zh-CN" b="1" dirty="0"/>
              <a:t>交易平台安全性评估方案</a:t>
            </a:r>
            <a:r>
              <a:rPr lang="zh-CN" altLang="en-US" b="1" dirty="0"/>
              <a:t>：</a:t>
            </a:r>
            <a:r>
              <a:rPr lang="zh-CN" altLang="en-US" dirty="0"/>
              <a:t>该方案</a:t>
            </a:r>
            <a:r>
              <a:rPr lang="zh-CN" altLang="zh-CN" dirty="0"/>
              <a:t>从</a:t>
            </a:r>
            <a:r>
              <a:rPr lang="zh-CN" altLang="en-US" dirty="0"/>
              <a:t>用户认证、令牌铸造、</a:t>
            </a:r>
            <a:r>
              <a:rPr lang="en-US" altLang="zh-CN" dirty="0"/>
              <a:t>NFT</a:t>
            </a:r>
            <a:r>
              <a:rPr lang="zh-CN" altLang="en-US" dirty="0"/>
              <a:t>上市、</a:t>
            </a:r>
            <a:r>
              <a:rPr lang="en-US" altLang="zh-CN" dirty="0"/>
              <a:t>NFT</a:t>
            </a:r>
            <a:r>
              <a:rPr lang="zh-CN" altLang="en-US" dirty="0"/>
              <a:t>交易这四个维度以及相应的多个指标系统给出了各个</a:t>
            </a:r>
            <a:r>
              <a:rPr lang="en-US" altLang="zh-CN" dirty="0"/>
              <a:t>NFT</a:t>
            </a:r>
            <a:r>
              <a:rPr lang="zh-CN" altLang="en-US" dirty="0"/>
              <a:t>平台的安全评估报告方案，</a:t>
            </a:r>
            <a:r>
              <a:rPr lang="zh-CN" altLang="zh-CN" dirty="0"/>
              <a:t>为虚拟经济以及</a:t>
            </a:r>
            <a:r>
              <a:rPr lang="en-US" altLang="zh-CN" dirty="0"/>
              <a:t>NFT</a:t>
            </a:r>
            <a:r>
              <a:rPr lang="zh-CN" altLang="zh-CN" dirty="0"/>
              <a:t>行业的安全性管理提供了专业化的解决方案</a:t>
            </a:r>
            <a:r>
              <a:rPr lang="zh-CN" altLang="en-US" dirty="0"/>
              <a:t>；</a:t>
            </a:r>
            <a:endParaRPr lang="zh-CN" altLang="zh-CN" dirty="0"/>
          </a:p>
          <a:p>
            <a:pPr algn="just"/>
            <a:endParaRPr lang="zh-CN" altLang="zh-CN" dirty="0"/>
          </a:p>
          <a:p>
            <a:pPr algn="just"/>
            <a:endParaRPr lang="en-US" dirty="0"/>
          </a:p>
        </p:txBody>
      </p:sp>
      <p:sp>
        <p:nvSpPr>
          <p:cNvPr id="37" name="Text Placeholder 36">
            <a:extLst>
              <a:ext uri="{FF2B5EF4-FFF2-40B4-BE49-F238E27FC236}">
                <a16:creationId xmlns:a16="http://schemas.microsoft.com/office/drawing/2014/main" id="{5351FDF8-2706-414F-ABC0-C59D4E2D9725}"/>
              </a:ext>
            </a:extLst>
          </p:cNvPr>
          <p:cNvSpPr>
            <a:spLocks noGrp="1"/>
          </p:cNvSpPr>
          <p:nvPr>
            <p:ph type="body" sz="quarter" idx="13"/>
          </p:nvPr>
        </p:nvSpPr>
        <p:spPr>
          <a:xfrm>
            <a:off x="5948526" y="1060800"/>
            <a:ext cx="1754326" cy="1530000"/>
          </a:xfrm>
        </p:spPr>
        <p:txBody>
          <a:bodyPr/>
          <a:lstStyle/>
          <a:p>
            <a:pPr algn="just"/>
            <a:r>
              <a:rPr lang="zh-CN" altLang="en-US" b="1" dirty="0"/>
              <a:t>（</a:t>
            </a:r>
            <a:r>
              <a:rPr lang="en-US" altLang="zh-CN" b="1" dirty="0"/>
              <a:t>1</a:t>
            </a:r>
            <a:r>
              <a:rPr lang="zh-CN" altLang="en-US" b="1" dirty="0"/>
              <a:t>）针对现有的反洗钱工具而言</a:t>
            </a:r>
            <a:r>
              <a:rPr lang="zh-CN" altLang="en-US" dirty="0"/>
              <a:t>，它们主要提供交易监控、货币交易报告（</a:t>
            </a:r>
            <a:r>
              <a:rPr lang="en-US" altLang="zh-CN" dirty="0"/>
              <a:t>CTR</a:t>
            </a:r>
            <a:r>
              <a:rPr lang="zh-CN" altLang="en-US" dirty="0"/>
              <a:t>）、客户身份管理以及合规管理四个部分，但是主要的目标客户为金融机构，与本产品的目标客户相去甚远；</a:t>
            </a:r>
            <a:endParaRPr lang="en-US" altLang="zh-CN" dirty="0"/>
          </a:p>
          <a:p>
            <a:pPr algn="just"/>
            <a:r>
              <a:rPr lang="zh-CN" altLang="en-US" b="1" dirty="0"/>
              <a:t>（</a:t>
            </a:r>
            <a:r>
              <a:rPr lang="en-US" altLang="zh-CN" b="1" dirty="0"/>
              <a:t>2</a:t>
            </a:r>
            <a:r>
              <a:rPr lang="zh-CN" altLang="en-US" b="1" dirty="0"/>
              <a:t>）针对</a:t>
            </a:r>
            <a:r>
              <a:rPr lang="en-US" altLang="zh-CN" b="1" dirty="0"/>
              <a:t>NFT</a:t>
            </a:r>
            <a:r>
              <a:rPr lang="zh-CN" altLang="en-US" b="1" dirty="0"/>
              <a:t>交易平台自带的反洗钱机制而言</a:t>
            </a:r>
            <a:r>
              <a:rPr lang="zh-CN" altLang="en-US" dirty="0"/>
              <a:t>，本团队的产品在隐私性保障、模型训练的数据量级、敏感度和准确性上有显著优势；</a:t>
            </a:r>
            <a:endParaRPr lang="en-US" dirty="0"/>
          </a:p>
        </p:txBody>
      </p:sp>
      <p:sp>
        <p:nvSpPr>
          <p:cNvPr id="38" name="Text Placeholder 37">
            <a:extLst>
              <a:ext uri="{FF2B5EF4-FFF2-40B4-BE49-F238E27FC236}">
                <a16:creationId xmlns:a16="http://schemas.microsoft.com/office/drawing/2014/main" id="{C6D246CB-7706-472E-99BE-E7D1B0B4D5B6}"/>
              </a:ext>
            </a:extLst>
          </p:cNvPr>
          <p:cNvSpPr>
            <a:spLocks noGrp="1"/>
          </p:cNvSpPr>
          <p:nvPr>
            <p:ph type="body" sz="quarter" idx="14"/>
          </p:nvPr>
        </p:nvSpPr>
        <p:spPr>
          <a:xfrm>
            <a:off x="7835806" y="1056066"/>
            <a:ext cx="1754326" cy="3428761"/>
          </a:xfrm>
        </p:spPr>
        <p:txBody>
          <a:bodyPr/>
          <a:lstStyle/>
          <a:p>
            <a:pPr algn="just"/>
            <a:r>
              <a:rPr lang="zh-CN" altLang="en-US" b="1" dirty="0"/>
              <a:t>（</a:t>
            </a:r>
            <a:r>
              <a:rPr lang="en-US" altLang="zh-CN" b="1" dirty="0"/>
              <a:t>1</a:t>
            </a:r>
            <a:r>
              <a:rPr lang="zh-CN" altLang="en-US" b="1" dirty="0"/>
              <a:t>）平台内部不具有反洗钱机制的</a:t>
            </a:r>
            <a:r>
              <a:rPr lang="en-US" altLang="zh-CN" b="1" dirty="0"/>
              <a:t>NFT</a:t>
            </a:r>
            <a:r>
              <a:rPr lang="zh-CN" altLang="en-US" b="1" dirty="0"/>
              <a:t>交易平台：</a:t>
            </a:r>
            <a:r>
              <a:rPr lang="zh-CN" altLang="en-US" dirty="0"/>
              <a:t>该类平台由于自身规模较小或者技术水平</a:t>
            </a:r>
            <a:r>
              <a:rPr lang="en-US" altLang="zh-CN" dirty="0"/>
              <a:t>jiao</a:t>
            </a:r>
            <a:r>
              <a:rPr lang="zh-CN" altLang="en-US" dirty="0"/>
              <a:t>低，无法独立自主地完成反洗钱监管工作。因此面对巨大的监管合规压力，这些平台对我们产品的需求会比较旺盛；</a:t>
            </a:r>
            <a:endParaRPr lang="en-US" altLang="zh-CN" b="1" dirty="0"/>
          </a:p>
          <a:p>
            <a:pPr algn="just"/>
            <a:r>
              <a:rPr lang="zh-CN" altLang="en-US" b="1" dirty="0"/>
              <a:t>（</a:t>
            </a:r>
            <a:r>
              <a:rPr lang="en-US" altLang="zh-CN" b="1" dirty="0"/>
              <a:t>2</a:t>
            </a:r>
            <a:r>
              <a:rPr lang="zh-CN" altLang="en-US" b="1" dirty="0"/>
              <a:t>）平台内部具有反洗钱机制的</a:t>
            </a:r>
            <a:r>
              <a:rPr lang="en-US" altLang="zh-CN" b="1" dirty="0"/>
              <a:t>NFT</a:t>
            </a:r>
            <a:r>
              <a:rPr lang="zh-CN" altLang="en-US" b="1" dirty="0"/>
              <a:t>交易平台：</a:t>
            </a:r>
            <a:r>
              <a:rPr lang="zh-CN" altLang="en-US" dirty="0"/>
              <a:t>这类平台自身具有反洗钱</a:t>
            </a:r>
            <a:r>
              <a:rPr lang="en-US" altLang="zh-CN" dirty="0"/>
              <a:t>j</a:t>
            </a:r>
            <a:r>
              <a:rPr lang="zh-CN" altLang="en-US" dirty="0"/>
              <a:t>机制，但由于受限于平台数据规模，其反洗钱能力远远不及我们的产品。因此为了以更低的成本获取更优质的服务，这些平台同样会对我们的产品有一定的需求；</a:t>
            </a:r>
            <a:endParaRPr lang="en-US" altLang="zh-CN" b="1" dirty="0"/>
          </a:p>
          <a:p>
            <a:pPr algn="just"/>
            <a:r>
              <a:rPr lang="zh-CN" altLang="en-US" b="1" dirty="0"/>
              <a:t>（</a:t>
            </a:r>
            <a:r>
              <a:rPr lang="en-US" altLang="zh-CN" b="1" dirty="0"/>
              <a:t>2</a:t>
            </a:r>
            <a:r>
              <a:rPr lang="zh-CN" altLang="en-US" b="1" dirty="0"/>
              <a:t>）政府部门：</a:t>
            </a:r>
            <a:r>
              <a:rPr lang="zh-CN" altLang="zh-CN" dirty="0"/>
              <a:t>面对虚拟经济的洗钱风险日益增强，监管机构和执法部门也需要一种反洗钱工具，来追踪和查处涉嫌洗钱的</a:t>
            </a:r>
            <a:r>
              <a:rPr lang="en-US" altLang="zh-CN" dirty="0"/>
              <a:t>NFT</a:t>
            </a:r>
            <a:r>
              <a:rPr lang="zh-CN" altLang="zh-CN" dirty="0"/>
              <a:t>交易，维护市场秩序和公共利益</a:t>
            </a:r>
            <a:r>
              <a:rPr lang="zh-CN" altLang="en-US" dirty="0"/>
              <a:t>，在未来各国和各地政府对</a:t>
            </a:r>
            <a:r>
              <a:rPr lang="en-US" altLang="zh-CN" dirty="0"/>
              <a:t>NFT</a:t>
            </a:r>
            <a:r>
              <a:rPr lang="zh-CN" altLang="en-US" dirty="0"/>
              <a:t>反洗钱工具的需求会逐渐增强，对本产品的需求会随之增加；</a:t>
            </a:r>
            <a:endParaRPr lang="en-US" dirty="0"/>
          </a:p>
        </p:txBody>
      </p:sp>
      <p:sp>
        <p:nvSpPr>
          <p:cNvPr id="40" name="Text Placeholder 39">
            <a:extLst>
              <a:ext uri="{FF2B5EF4-FFF2-40B4-BE49-F238E27FC236}">
                <a16:creationId xmlns:a16="http://schemas.microsoft.com/office/drawing/2014/main" id="{C124FF11-E6A4-4252-8BFB-4EC89800B960}"/>
              </a:ext>
            </a:extLst>
          </p:cNvPr>
          <p:cNvSpPr>
            <a:spLocks noGrp="1"/>
          </p:cNvSpPr>
          <p:nvPr>
            <p:ph type="body" sz="quarter" idx="16"/>
          </p:nvPr>
        </p:nvSpPr>
        <p:spPr>
          <a:xfrm>
            <a:off x="2196704" y="2929514"/>
            <a:ext cx="1754326" cy="1530000"/>
          </a:xfrm>
        </p:spPr>
        <p:txBody>
          <a:bodyPr/>
          <a:lstStyle/>
          <a:p>
            <a:pPr algn="just"/>
            <a:r>
              <a:rPr lang="zh-CN" altLang="en-US" b="1" dirty="0"/>
              <a:t>（</a:t>
            </a:r>
            <a:r>
              <a:rPr lang="en-US" altLang="zh-CN" b="1" dirty="0"/>
              <a:t>1</a:t>
            </a:r>
            <a:r>
              <a:rPr lang="zh-CN" altLang="en-US" b="1" dirty="0"/>
              <a:t>）可疑交易识别效率：</a:t>
            </a:r>
            <a:r>
              <a:rPr lang="zh-CN" altLang="en-US" dirty="0"/>
              <a:t>针对本项目识别可疑交易的能力，使用对可疑交易识别的准确率衡量；</a:t>
            </a:r>
            <a:endParaRPr lang="en-US" altLang="zh-CN" dirty="0"/>
          </a:p>
          <a:p>
            <a:pPr algn="just"/>
            <a:r>
              <a:rPr lang="zh-CN" altLang="en-US" b="1" dirty="0"/>
              <a:t>（</a:t>
            </a:r>
            <a:r>
              <a:rPr lang="en-US" altLang="zh-CN" b="1" dirty="0"/>
              <a:t>2</a:t>
            </a:r>
            <a:r>
              <a:rPr lang="zh-CN" altLang="en-US" b="1" dirty="0"/>
              <a:t>）可疑交易溯源效率：</a:t>
            </a:r>
            <a:r>
              <a:rPr lang="zh-CN" altLang="en-US" dirty="0"/>
              <a:t>针对本产品对洗钱交易链条的追踪能力，使用对可疑交易的溯源效率来衡量；</a:t>
            </a:r>
            <a:endParaRPr lang="en-US" altLang="zh-CN" dirty="0"/>
          </a:p>
          <a:p>
            <a:pPr algn="just"/>
            <a:r>
              <a:rPr lang="zh-CN" altLang="en-US" b="1" dirty="0"/>
              <a:t>（</a:t>
            </a:r>
            <a:r>
              <a:rPr lang="en-US" altLang="zh-CN" b="1" dirty="0"/>
              <a:t>3</a:t>
            </a:r>
            <a:r>
              <a:rPr lang="zh-CN" altLang="en-US" b="1" dirty="0"/>
              <a:t>）安全报告用户反馈：</a:t>
            </a:r>
            <a:r>
              <a:rPr lang="zh-CN" altLang="en-US" dirty="0"/>
              <a:t>针对平台安全评估方案的有效性，使用用户对评估报告的反馈来衡量；</a:t>
            </a:r>
            <a:endParaRPr lang="en-US" altLang="zh-CN" dirty="0"/>
          </a:p>
        </p:txBody>
      </p:sp>
      <p:sp>
        <p:nvSpPr>
          <p:cNvPr id="42" name="Text Placeholder 41">
            <a:extLst>
              <a:ext uri="{FF2B5EF4-FFF2-40B4-BE49-F238E27FC236}">
                <a16:creationId xmlns:a16="http://schemas.microsoft.com/office/drawing/2014/main" id="{16DDEA4C-73EA-4419-A930-D63057032D21}"/>
              </a:ext>
            </a:extLst>
          </p:cNvPr>
          <p:cNvSpPr>
            <a:spLocks noGrp="1"/>
          </p:cNvSpPr>
          <p:nvPr>
            <p:ph type="body" sz="quarter" idx="18"/>
          </p:nvPr>
        </p:nvSpPr>
        <p:spPr/>
        <p:txBody>
          <a:bodyPr/>
          <a:lstStyle/>
          <a:p>
            <a:pPr algn="just"/>
            <a:r>
              <a:rPr lang="zh-CN" altLang="en-US" b="1" dirty="0"/>
              <a:t>（</a:t>
            </a:r>
            <a:r>
              <a:rPr lang="en-US" altLang="zh-CN" b="1" dirty="0"/>
              <a:t>1</a:t>
            </a:r>
            <a:r>
              <a:rPr lang="zh-CN" altLang="en-US" b="1" dirty="0"/>
              <a:t>）目前主要的</a:t>
            </a:r>
            <a:r>
              <a:rPr lang="en-US" altLang="zh-CN" b="1" dirty="0"/>
              <a:t>NFT</a:t>
            </a:r>
            <a:r>
              <a:rPr lang="zh-CN" altLang="en-US" b="1" dirty="0"/>
              <a:t>反洗钱服务仅集中在交易平台内部</a:t>
            </a:r>
            <a:r>
              <a:rPr lang="zh-CN" altLang="en-US" dirty="0"/>
              <a:t>，而由第三方平台提供的</a:t>
            </a:r>
            <a:r>
              <a:rPr lang="en-US" altLang="zh-CN" dirty="0"/>
              <a:t>NFT</a:t>
            </a:r>
            <a:r>
              <a:rPr lang="zh-CN" altLang="en-US" dirty="0"/>
              <a:t>交易平台联合反洗钱服务仍存在空缺；</a:t>
            </a:r>
          </a:p>
          <a:p>
            <a:pPr algn="just"/>
            <a:r>
              <a:rPr lang="zh-CN" altLang="en-US" b="1" dirty="0"/>
              <a:t>（</a:t>
            </a:r>
            <a:r>
              <a:rPr lang="en-US" altLang="zh-CN" b="1" dirty="0"/>
              <a:t>2</a:t>
            </a:r>
            <a:r>
              <a:rPr lang="zh-CN" altLang="en-US" b="1" dirty="0"/>
              <a:t>）创新性地以联邦学习技术、</a:t>
            </a:r>
            <a:r>
              <a:rPr lang="en-US" altLang="zh-CN" b="1" dirty="0" err="1"/>
              <a:t>XGBoost</a:t>
            </a:r>
            <a:r>
              <a:rPr lang="zh-CN" altLang="en-US" b="1" dirty="0"/>
              <a:t>技术为基础，</a:t>
            </a:r>
            <a:r>
              <a:rPr lang="zh-CN" altLang="en-US" dirty="0"/>
              <a:t>避免</a:t>
            </a:r>
            <a:r>
              <a:rPr lang="en-US" altLang="zh-CN" dirty="0"/>
              <a:t>NFT</a:t>
            </a:r>
            <a:r>
              <a:rPr lang="zh-CN" altLang="en-US" dirty="0"/>
              <a:t>交易存在“数据孤岛”现象，通过同态加密技术和协议进行参数交换，进而构建共有的联合模型，打破隐私壁垒；</a:t>
            </a:r>
          </a:p>
        </p:txBody>
      </p:sp>
      <p:sp>
        <p:nvSpPr>
          <p:cNvPr id="44" name="Text Placeholder 43">
            <a:extLst>
              <a:ext uri="{FF2B5EF4-FFF2-40B4-BE49-F238E27FC236}">
                <a16:creationId xmlns:a16="http://schemas.microsoft.com/office/drawing/2014/main" id="{6AF1F296-77A8-41C7-8F23-216E59C6E45C}"/>
              </a:ext>
            </a:extLst>
          </p:cNvPr>
          <p:cNvSpPr>
            <a:spLocks noGrp="1"/>
          </p:cNvSpPr>
          <p:nvPr>
            <p:ph type="body" sz="quarter" idx="20"/>
          </p:nvPr>
        </p:nvSpPr>
        <p:spPr/>
        <p:txBody>
          <a:bodyPr/>
          <a:lstStyle/>
          <a:p>
            <a:r>
              <a:rPr lang="zh-CN" altLang="en-US" b="1" dirty="0"/>
              <a:t>（</a:t>
            </a:r>
            <a:r>
              <a:rPr lang="en-US" altLang="zh-CN" b="1" dirty="0"/>
              <a:t>1</a:t>
            </a:r>
            <a:r>
              <a:rPr lang="zh-CN" altLang="en-US" b="1" dirty="0"/>
              <a:t>）理论可行性：</a:t>
            </a:r>
            <a:r>
              <a:rPr lang="zh-CN" altLang="en-US" dirty="0"/>
              <a:t>从洗钱犯罪的交易模式、犯罪处置的现实过程来看，洗钱犯罪有特定的暴露节点，这是项目落地实行的基础；</a:t>
            </a:r>
          </a:p>
          <a:p>
            <a:r>
              <a:rPr lang="zh-CN" altLang="en-US" b="1" dirty="0">
                <a:solidFill>
                  <a:schemeClr val="tx2"/>
                </a:solidFill>
              </a:rPr>
              <a:t>（</a:t>
            </a:r>
            <a:r>
              <a:rPr lang="en-US" altLang="zh-CN" b="1" dirty="0">
                <a:solidFill>
                  <a:schemeClr val="tx2"/>
                </a:solidFill>
              </a:rPr>
              <a:t>2</a:t>
            </a:r>
            <a:r>
              <a:rPr lang="zh-CN" altLang="en-US" b="1" dirty="0">
                <a:solidFill>
                  <a:schemeClr val="tx2"/>
                </a:solidFill>
              </a:rPr>
              <a:t>）技术可行性：</a:t>
            </a:r>
            <a:r>
              <a:rPr lang="zh-CN" altLang="en-US" dirty="0">
                <a:solidFill>
                  <a:schemeClr val="tx2"/>
                </a:solidFill>
              </a:rPr>
              <a:t>在模型中所采取的技术有相关的成功案例，并且在数据获取的方式上能够有效保护各平台之间的数据隐私，避免各</a:t>
            </a:r>
            <a:r>
              <a:rPr lang="en-US" altLang="zh-CN" dirty="0">
                <a:solidFill>
                  <a:schemeClr val="tx2"/>
                </a:solidFill>
              </a:rPr>
              <a:t>NFT</a:t>
            </a:r>
            <a:r>
              <a:rPr lang="zh-CN" altLang="en-US" dirty="0">
                <a:solidFill>
                  <a:schemeClr val="tx2"/>
                </a:solidFill>
              </a:rPr>
              <a:t>交易平台相关交易数据泄露；</a:t>
            </a:r>
            <a:endParaRPr lang="en-US" altLang="zh-CN" dirty="0">
              <a:solidFill>
                <a:schemeClr val="tx2"/>
              </a:solidFill>
            </a:endParaRPr>
          </a:p>
          <a:p>
            <a:r>
              <a:rPr lang="zh-CN" altLang="en-US" b="1" dirty="0"/>
              <a:t>（</a:t>
            </a:r>
            <a:r>
              <a:rPr lang="en-US" altLang="zh-CN" b="1" dirty="0"/>
              <a:t>3</a:t>
            </a:r>
            <a:r>
              <a:rPr lang="zh-CN" altLang="en-US" b="1" dirty="0"/>
              <a:t>）经济可行性：</a:t>
            </a:r>
            <a:r>
              <a:rPr lang="zh-CN" altLang="en-US" dirty="0"/>
              <a:t>该反洗钱工具的投资回报呈现出规模效应特征，随着该反洗钱工具的平台使用客户增加该改工具对洗钱行为的识别精度和准确性随之相应提高，而模型维护更新等投入成本的增加较少；</a:t>
            </a:r>
          </a:p>
          <a:p>
            <a:r>
              <a:rPr lang="zh-CN" altLang="en-US" b="1" dirty="0"/>
              <a:t>（</a:t>
            </a:r>
            <a:r>
              <a:rPr lang="en-US" altLang="zh-CN" b="1" dirty="0"/>
              <a:t>4</a:t>
            </a:r>
            <a:r>
              <a:rPr lang="zh-CN" altLang="en-US" b="1" dirty="0"/>
              <a:t>）社会可行性</a:t>
            </a:r>
            <a:r>
              <a:rPr lang="zh-CN" altLang="en-US" dirty="0"/>
              <a:t>：这类反洗钱工具的推行能够减少</a:t>
            </a:r>
            <a:r>
              <a:rPr lang="en-US" altLang="zh-CN" dirty="0"/>
              <a:t>NFT</a:t>
            </a:r>
            <a:r>
              <a:rPr lang="zh-CN" altLang="en-US" dirty="0"/>
              <a:t>交易平台的反洗钱活动，促使</a:t>
            </a:r>
            <a:r>
              <a:rPr lang="en-US" altLang="zh-CN" dirty="0"/>
              <a:t>NFT</a:t>
            </a:r>
            <a:r>
              <a:rPr lang="zh-CN" altLang="en-US" dirty="0"/>
              <a:t>交易平台合规发展，具有经济社会意义，一旦推广实施可能会受到当地政府的相关支持；</a:t>
            </a:r>
          </a:p>
        </p:txBody>
      </p:sp>
      <p:sp>
        <p:nvSpPr>
          <p:cNvPr id="45" name="Text Placeholder 44">
            <a:extLst>
              <a:ext uri="{FF2B5EF4-FFF2-40B4-BE49-F238E27FC236}">
                <a16:creationId xmlns:a16="http://schemas.microsoft.com/office/drawing/2014/main" id="{25FAEB1E-E72B-449B-8927-F8A2B7A1144B}"/>
              </a:ext>
            </a:extLst>
          </p:cNvPr>
          <p:cNvSpPr>
            <a:spLocks noGrp="1"/>
          </p:cNvSpPr>
          <p:nvPr>
            <p:ph type="body" sz="quarter" idx="21"/>
          </p:nvPr>
        </p:nvSpPr>
        <p:spPr>
          <a:xfrm>
            <a:off x="5056350" y="4876800"/>
            <a:ext cx="4533782" cy="1447800"/>
          </a:xfrm>
        </p:spPr>
        <p:txBody>
          <a:bodyPr/>
          <a:lstStyle/>
          <a:p>
            <a:pPr algn="just"/>
            <a:r>
              <a:rPr lang="zh-CN" altLang="en-US" b="1" dirty="0"/>
              <a:t>（</a:t>
            </a:r>
            <a:r>
              <a:rPr lang="en-US" altLang="zh-CN" b="1" dirty="0"/>
              <a:t>1</a:t>
            </a:r>
            <a:r>
              <a:rPr lang="zh-CN" altLang="en-US" b="1" dirty="0"/>
              <a:t>）缺点一：</a:t>
            </a:r>
            <a:r>
              <a:rPr lang="zh-CN" altLang="en-US" dirty="0"/>
              <a:t>本团队的</a:t>
            </a:r>
            <a:r>
              <a:rPr lang="en-US" altLang="zh-CN" dirty="0"/>
              <a:t>NFT</a:t>
            </a:r>
            <a:r>
              <a:rPr lang="zh-CN" altLang="en-US" dirty="0"/>
              <a:t>反洗钱工具训练阶段获取实时平台真实数据较难，主要为本地训练，因此导致模型的可行性和准确性存在一定偏差，且项目启动资金较少，导致项目起步阶段困难。</a:t>
            </a:r>
          </a:p>
          <a:p>
            <a:pPr marL="171450" indent="-171450" algn="just">
              <a:buFont typeface="Wingdings" panose="05000000000000000000" pitchFamily="2" charset="2"/>
              <a:buChar char="Ø"/>
            </a:pPr>
            <a:r>
              <a:rPr lang="zh-CN" altLang="en-US" dirty="0"/>
              <a:t>改进方案：在项目启动前积极与市场上的</a:t>
            </a:r>
            <a:r>
              <a:rPr lang="en-US" altLang="zh-CN" dirty="0"/>
              <a:t>NFT</a:t>
            </a:r>
            <a:r>
              <a:rPr lang="zh-CN" altLang="en-US" dirty="0"/>
              <a:t>交易平台达成前期合作约定后可解决数据相关问题。积极推动融资计划获取资金，以便快速度过前期起步阶段。同时可积极寻求政府帮助，可通过与政府合作的形式获取前期资金支持。</a:t>
            </a:r>
          </a:p>
          <a:p>
            <a:pPr algn="just"/>
            <a:r>
              <a:rPr lang="zh-CN" altLang="en-US" b="1" dirty="0"/>
              <a:t>（</a:t>
            </a:r>
            <a:r>
              <a:rPr lang="en-US" altLang="zh-CN" b="1" dirty="0"/>
              <a:t>2</a:t>
            </a:r>
            <a:r>
              <a:rPr lang="zh-CN" altLang="en-US" b="1" dirty="0"/>
              <a:t>）缺点二：</a:t>
            </a:r>
            <a:r>
              <a:rPr lang="zh-CN" altLang="en-US" dirty="0"/>
              <a:t>世界各地的监管和用户习惯等实际情况不同，然而大规模的</a:t>
            </a:r>
            <a:r>
              <a:rPr lang="en-US" altLang="zh-CN" dirty="0"/>
              <a:t>NFT</a:t>
            </a:r>
            <a:r>
              <a:rPr lang="zh-CN" altLang="en-US" dirty="0"/>
              <a:t>交易平台往往又以跨国交易平台的形式存在，洗钱犯罪也有可能跨国发生。因此在模型中我们采取的指标依据可能适用性有限，从而导致模型的准确度下降。</a:t>
            </a:r>
            <a:endParaRPr lang="en-US" altLang="zh-CN" dirty="0"/>
          </a:p>
          <a:p>
            <a:pPr marL="171450" indent="-171450" algn="just">
              <a:buFont typeface="Wingdings" panose="05000000000000000000" pitchFamily="2" charset="2"/>
              <a:buChar char="Ø"/>
            </a:pPr>
            <a:r>
              <a:rPr lang="zh-CN" altLang="en-US" dirty="0"/>
              <a:t>改进方案：在应用中以实际情况灵活改变指标安排，优化迭代反洗钱工具识别模型。</a:t>
            </a:r>
          </a:p>
        </p:txBody>
      </p:sp>
      <p:sp>
        <p:nvSpPr>
          <p:cNvPr id="46" name="Text Placeholder 45">
            <a:extLst>
              <a:ext uri="{FF2B5EF4-FFF2-40B4-BE49-F238E27FC236}">
                <a16:creationId xmlns:a16="http://schemas.microsoft.com/office/drawing/2014/main" id="{54911955-91BB-492D-8753-A4E56F1FF3A9}"/>
              </a:ext>
            </a:extLst>
          </p:cNvPr>
          <p:cNvSpPr>
            <a:spLocks noGrp="1"/>
          </p:cNvSpPr>
          <p:nvPr>
            <p:ph type="body" sz="quarter" idx="22"/>
          </p:nvPr>
        </p:nvSpPr>
        <p:spPr/>
        <p:txBody>
          <a:bodyPr/>
          <a:lstStyle/>
          <a:p>
            <a:r>
              <a:rPr lang="en-US" dirty="0"/>
              <a:t>C</a:t>
            </a:r>
            <a:r>
              <a:rPr lang="en-US" altLang="zh-CN" dirty="0"/>
              <a:t>iti Cup</a:t>
            </a:r>
            <a:endParaRPr lang="en-US" dirty="0"/>
          </a:p>
        </p:txBody>
      </p:sp>
      <p:sp>
        <p:nvSpPr>
          <p:cNvPr id="47" name="Text Placeholder 46">
            <a:extLst>
              <a:ext uri="{FF2B5EF4-FFF2-40B4-BE49-F238E27FC236}">
                <a16:creationId xmlns:a16="http://schemas.microsoft.com/office/drawing/2014/main" id="{04BBD24C-D623-4CA0-96E9-5A9E627E1CA8}"/>
              </a:ext>
            </a:extLst>
          </p:cNvPr>
          <p:cNvSpPr>
            <a:spLocks noGrp="1"/>
          </p:cNvSpPr>
          <p:nvPr>
            <p:ph type="body" sz="quarter" idx="23"/>
          </p:nvPr>
        </p:nvSpPr>
        <p:spPr/>
        <p:txBody>
          <a:bodyPr/>
          <a:lstStyle/>
          <a:p>
            <a:r>
              <a:rPr lang="zh-CN" altLang="en-US" dirty="0"/>
              <a:t>全员上岸队</a:t>
            </a:r>
            <a:endParaRPr lang="en-US" dirty="0"/>
          </a:p>
        </p:txBody>
      </p:sp>
      <p:sp>
        <p:nvSpPr>
          <p:cNvPr id="48" name="Text Placeholder 47">
            <a:extLst>
              <a:ext uri="{FF2B5EF4-FFF2-40B4-BE49-F238E27FC236}">
                <a16:creationId xmlns:a16="http://schemas.microsoft.com/office/drawing/2014/main" id="{1BB68649-CFD9-474B-BD60-609CA6D94794}"/>
              </a:ext>
            </a:extLst>
          </p:cNvPr>
          <p:cNvSpPr>
            <a:spLocks noGrp="1"/>
          </p:cNvSpPr>
          <p:nvPr>
            <p:ph type="body" sz="quarter" idx="24"/>
          </p:nvPr>
        </p:nvSpPr>
        <p:spPr/>
        <p:txBody>
          <a:bodyPr/>
          <a:lstStyle/>
          <a:p>
            <a:r>
              <a:rPr lang="en-US" dirty="0"/>
              <a:t>0</a:t>
            </a:r>
            <a:r>
              <a:rPr lang="en-US" altLang="zh-CN" dirty="0"/>
              <a:t>3</a:t>
            </a:r>
            <a:r>
              <a:rPr lang="en-US" dirty="0"/>
              <a:t>.</a:t>
            </a:r>
            <a:r>
              <a:rPr lang="en-US" altLang="zh-CN" dirty="0"/>
              <a:t>26</a:t>
            </a:r>
            <a:r>
              <a:rPr lang="en-US" dirty="0"/>
              <a:t>.202</a:t>
            </a:r>
            <a:r>
              <a:rPr lang="en-US" altLang="zh-CN" dirty="0"/>
              <a:t>3</a:t>
            </a:r>
            <a:endParaRPr lang="en-US" dirty="0"/>
          </a:p>
        </p:txBody>
      </p:sp>
      <p:sp>
        <p:nvSpPr>
          <p:cNvPr id="49" name="Text Placeholder 48">
            <a:extLst>
              <a:ext uri="{FF2B5EF4-FFF2-40B4-BE49-F238E27FC236}">
                <a16:creationId xmlns:a16="http://schemas.microsoft.com/office/drawing/2014/main" id="{31005D37-5BE6-474E-9A7D-45C4A00197E7}"/>
              </a:ext>
            </a:extLst>
          </p:cNvPr>
          <p:cNvSpPr>
            <a:spLocks noGrp="1"/>
          </p:cNvSpPr>
          <p:nvPr>
            <p:ph type="body" sz="quarter" idx="25"/>
          </p:nvPr>
        </p:nvSpPr>
        <p:spPr/>
        <p:txBody>
          <a:bodyPr/>
          <a:lstStyle/>
          <a:p>
            <a:r>
              <a:rPr lang="en-US" altLang="zh-CN" dirty="0"/>
              <a:t>4.5</a:t>
            </a:r>
            <a:endParaRPr lang="en-US" dirty="0"/>
          </a:p>
        </p:txBody>
      </p:sp>
    </p:spTree>
    <p:extLst>
      <p:ext uri="{BB962C8B-B14F-4D97-AF65-F5344CB8AC3E}">
        <p14:creationId xmlns:p14="http://schemas.microsoft.com/office/powerpoint/2010/main" val="1901301566"/>
      </p:ext>
    </p:extLst>
  </p:cSld>
  <p:clrMapOvr>
    <a:masterClrMapping/>
  </p:clrMapOvr>
</p:sld>
</file>

<file path=ppt/theme/theme1.xml><?xml version="1.0" encoding="utf-8"?>
<a:theme xmlns:a="http://schemas.openxmlformats.org/drawingml/2006/main" name="Office Theme">
  <a:themeElements>
    <a:clrScheme name="Neos Chronos">
      <a:dk1>
        <a:srgbClr val="444444"/>
      </a:dk1>
      <a:lt1>
        <a:sysClr val="window" lastClr="FFFFFF"/>
      </a:lt1>
      <a:dk2>
        <a:srgbClr val="222222"/>
      </a:dk2>
      <a:lt2>
        <a:srgbClr val="F3F3F3"/>
      </a:lt2>
      <a:accent1>
        <a:srgbClr val="669933"/>
      </a:accent1>
      <a:accent2>
        <a:srgbClr val="38BEEA"/>
      </a:accent2>
      <a:accent3>
        <a:srgbClr val="EA38C0"/>
      </a:accent3>
      <a:accent4>
        <a:srgbClr val="EABB38"/>
      </a:accent4>
      <a:accent5>
        <a:srgbClr val="788C92"/>
      </a:accent5>
      <a:accent6>
        <a:srgbClr val="EA6238"/>
      </a:accent6>
      <a:hlink>
        <a:srgbClr val="787828"/>
      </a:hlink>
      <a:folHlink>
        <a:srgbClr val="9AA29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item1.xml><?xml version="1.0" encoding="utf-8"?>
<XMLData TextToDisplay="RightsWATCHMark">13|CITI-PII-Internal|{00000000-0000-0000-0000-000000000000}</XMLData>
</file>

<file path=customXml/item2.xml><?xml version="1.0" encoding="utf-8"?>
<XMLData TextToDisplay="%DOCUMENTGUID%">{00000000-0000-0000-0000-000000000000}</XMLData>
</file>

<file path=customXml/item3.xml><?xml version="1.0" encoding="utf-8"?>
<XMLData TextToDisplay="%CLASSIFICATIONDATETIME%">08:12 29/11/2021</XMLData>
</file>

<file path=customXml/item4.xml><?xml version="1.0" encoding="utf-8"?>
<ct:contentTypeSchema xmlns:ct="http://schemas.microsoft.com/office/2006/metadata/contentType" xmlns:ma="http://schemas.microsoft.com/office/2006/metadata/properties/metaAttributes" ct:_="" ma:_="" ma:contentTypeName="Document" ma:contentTypeID="0x01010001D845DCA001874B8827B047BD48D237" ma:contentTypeVersion="0" ma:contentTypeDescription="Create a new document." ma:contentTypeScope="" ma:versionID="dbe8dc30a63cac2e51a0189c88873a2c">
  <xsd:schema xmlns:xsd="http://www.w3.org/2001/XMLSchema" xmlns:xs="http://www.w3.org/2001/XMLSchema" xmlns:p="http://schemas.microsoft.com/office/2006/metadata/properties" targetNamespace="http://schemas.microsoft.com/office/2006/metadata/properties" ma:root="true" ma:fieldsID="1b05d82d297216baf5b26c55225140df">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5.xml><?xml version="1.0" encoding="utf-8"?>
<?mso-contentType ?>
<FormTemplates xmlns="http://schemas.microsoft.com/sharepoint/v3/contenttype/forms">
  <Display>DocumentLibraryForm</Display>
  <Edit>DocumentLibraryForm</Edit>
  <New>DocumentLibraryForm</New>
</FormTemplates>
</file>

<file path=customXml/item6.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C0E257C-350B-4AF7-9375-800969F8B729}">
  <ds:schemaRefs/>
</ds:datastoreItem>
</file>

<file path=customXml/itemProps2.xml><?xml version="1.0" encoding="utf-8"?>
<ds:datastoreItem xmlns:ds="http://schemas.openxmlformats.org/officeDocument/2006/customXml" ds:itemID="{8B949761-B17E-4D91-BE25-51B9253607AB}">
  <ds:schemaRefs/>
</ds:datastoreItem>
</file>

<file path=customXml/itemProps3.xml><?xml version="1.0" encoding="utf-8"?>
<ds:datastoreItem xmlns:ds="http://schemas.openxmlformats.org/officeDocument/2006/customXml" ds:itemID="{96F0229F-0CC7-416C-827C-52F228A0896F}">
  <ds:schemaRefs/>
</ds:datastoreItem>
</file>

<file path=customXml/itemProps4.xml><?xml version="1.0" encoding="utf-8"?>
<ds:datastoreItem xmlns:ds="http://schemas.openxmlformats.org/officeDocument/2006/customXml" ds:itemID="{A3285076-E92D-4218-9ACA-9ABE14FB14A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5.xml><?xml version="1.0" encoding="utf-8"?>
<ds:datastoreItem xmlns:ds="http://schemas.openxmlformats.org/officeDocument/2006/customXml" ds:itemID="{4E4FD9DE-3E78-4084-AA25-DB23AACF2470}">
  <ds:schemaRefs>
    <ds:schemaRef ds:uri="http://schemas.microsoft.com/sharepoint/v3/contenttype/forms"/>
  </ds:schemaRefs>
</ds:datastoreItem>
</file>

<file path=customXml/itemProps6.xml><?xml version="1.0" encoding="utf-8"?>
<ds:datastoreItem xmlns:ds="http://schemas.openxmlformats.org/officeDocument/2006/customXml" ds:itemID="{8CA1B667-4A20-4868-AE41-4E6BC924610A}">
  <ds:schemaRefs>
    <ds:schemaRef ds:uri="http://schemas.microsoft.com/office/2006/documentManagement/types"/>
    <ds:schemaRef ds:uri="http://purl.org/dc/elements/1.1/"/>
    <ds:schemaRef ds:uri="http://schemas.openxmlformats.org/package/2006/metadata/core-properties"/>
    <ds:schemaRef ds:uri="http://purl.org/dc/dcmitype/"/>
    <ds:schemaRef ds:uri="http://schemas.microsoft.com/office/infopath/2007/PartnerControls"/>
    <ds:schemaRef ds:uri="http://schemas.microsoft.com/office/2006/metadata/properties"/>
    <ds:schemaRef ds:uri="http://www.w3.org/XML/1998/namespace"/>
    <ds:schemaRef ds:uri="http://purl.org/dc/terms/"/>
  </ds:schemaRefs>
</ds:datastoreItem>
</file>

<file path=docProps/app.xml><?xml version="1.0" encoding="utf-8"?>
<Properties xmlns="http://schemas.openxmlformats.org/officeDocument/2006/extended-properties" xmlns:vt="http://schemas.openxmlformats.org/officeDocument/2006/docPropsVTypes">
  <Template/>
  <TotalTime>10508</TotalTime>
  <Words>1289</Words>
  <Application>Microsoft Office PowerPoint</Application>
  <PresentationFormat>A4 纸张(210x297 毫米)</PresentationFormat>
  <Paragraphs>30</Paragraphs>
  <Slides>1</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vt:i4>
      </vt:variant>
    </vt:vector>
  </HeadingPairs>
  <TitlesOfParts>
    <vt:vector size="6" baseType="lpstr">
      <vt:lpstr>PingFang SC</vt:lpstr>
      <vt:lpstr>Arial</vt:lpstr>
      <vt:lpstr>Calibri</vt:lpstr>
      <vt:lpstr>Wingdings</vt:lpstr>
      <vt:lpstr>Office Theme</vt:lpstr>
      <vt:lpstr>PowerPoint 演示文稿</vt:lpstr>
    </vt:vector>
  </TitlesOfParts>
  <Manager/>
  <Company>Neos Chronos Limited</Company>
  <LinksUpToDate>false</LinksUpToDate>
  <SharedDoc>false</SharedDoc>
  <HyperlinkBase>https://neoschronos.com/assets/</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Lean Canvas Template PPT</dc:title>
  <dc:subject/>
  <dc:creator>js20273@imceu.eu.ssmb.com</dc:creator>
  <cp:keywords>Lean Canvas, Free, Template, Powerpoint, ppt, pptx</cp:keywords>
  <dc:description>Lean Canvas is adapted from The Business Model Canvas (www.businessmodelgeneration.com/canvas). This work is licensed under the Creative Commons Attribution-Share Alike 3.0 Unported License.</dc:description>
  <cp:lastModifiedBy>姚 葳</cp:lastModifiedBy>
  <cp:revision>99</cp:revision>
  <cp:lastPrinted>2020-01-14T19:13:55Z</cp:lastPrinted>
  <dcterms:created xsi:type="dcterms:W3CDTF">2019-04-01T16:49:19Z</dcterms:created>
  <dcterms:modified xsi:type="dcterms:W3CDTF">2023-03-26T14:12:46Z</dcterms:modified>
  <cp:category>PowerPoint Template PPT</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RightsWATCHMark">
    <vt:lpwstr>13|CITI-PII-Internal|{00000000-0000-0000-0000-000000000000}</vt:lpwstr>
  </property>
  <property fmtid="{D5CDD505-2E9C-101B-9397-08002B2CF9AE}" pid="3" name="ContentTypeId">
    <vt:lpwstr>0x01010001D845DCA001874B8827B047BD48D237</vt:lpwstr>
  </property>
  <property fmtid="{D5CDD505-2E9C-101B-9397-08002B2CF9AE}" pid="4" name="MSIP_Label_d291669d-c62a-41f9-9790-e463798003d8_Enabled">
    <vt:lpwstr>true</vt:lpwstr>
  </property>
  <property fmtid="{D5CDD505-2E9C-101B-9397-08002B2CF9AE}" pid="5" name="MSIP_Label_d291669d-c62a-41f9-9790-e463798003d8_SetDate">
    <vt:lpwstr>2023-01-10T01:55:41Z</vt:lpwstr>
  </property>
  <property fmtid="{D5CDD505-2E9C-101B-9397-08002B2CF9AE}" pid="6" name="MSIP_Label_d291669d-c62a-41f9-9790-e463798003d8_Method">
    <vt:lpwstr>Privileged</vt:lpwstr>
  </property>
  <property fmtid="{D5CDD505-2E9C-101B-9397-08002B2CF9AE}" pid="7" name="MSIP_Label_d291669d-c62a-41f9-9790-e463798003d8_Name">
    <vt:lpwstr>Public</vt:lpwstr>
  </property>
  <property fmtid="{D5CDD505-2E9C-101B-9397-08002B2CF9AE}" pid="8" name="MSIP_Label_d291669d-c62a-41f9-9790-e463798003d8_SiteId">
    <vt:lpwstr>1771ae17-e764-4e0f-a476-d4184d79a5d9</vt:lpwstr>
  </property>
  <property fmtid="{D5CDD505-2E9C-101B-9397-08002B2CF9AE}" pid="9" name="MSIP_Label_d291669d-c62a-41f9-9790-e463798003d8_ActionId">
    <vt:lpwstr>54b7388a-9554-4bd4-b502-48951cad7ba2</vt:lpwstr>
  </property>
  <property fmtid="{D5CDD505-2E9C-101B-9397-08002B2CF9AE}" pid="10" name="MSIP_Label_d291669d-c62a-41f9-9790-e463798003d8_ContentBits">
    <vt:lpwstr>0</vt:lpwstr>
  </property>
</Properties>
</file>